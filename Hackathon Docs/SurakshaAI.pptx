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8" r:id="rId7"/>
    <p:sldId id="263" r:id="rId8"/>
    <p:sldId id="266" r:id="rId9"/>
    <p:sldId id="269" r:id="rId10"/>
  </p:sldIdLst>
  <p:sldSz cx="18288000" cy="10287000"/>
  <p:notesSz cx="6858000" cy="9144000"/>
  <p:embeddedFontLst>
    <p:embeddedFont>
      <p:font typeface="Barlow Bold" panose="020B0604020202020204" charset="0"/>
      <p:bold r:id="rId12"/>
    </p:embeddedFont>
    <p:embeddedFont>
      <p:font typeface="League Spartan" panose="020B0604020202020204" charset="0"/>
      <p:regular r:id="rId13"/>
      <p:bold r:id="rId14"/>
    </p:embeddedFont>
    <p:embeddedFont>
      <p:font typeface="Montserrat" panose="00000500000000000000" pitchFamily="2" charset="0"/>
      <p:regular r:id="rId15"/>
      <p:bold r:id="rId16"/>
    </p:embeddedFont>
    <p:embeddedFont>
      <p:font typeface="Montserrat Bold" panose="00000800000000000000" charset="0"/>
      <p:regular r:id="rId17"/>
      <p:bold r:id="rId18"/>
    </p:embeddedFont>
    <p:embeddedFont>
      <p:font typeface="TT Interphases Mono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48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B8CDC6-0E97-4F21-ADA0-E18A951233B8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C39FA-8487-485D-B3AE-677B9BC08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42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C39FA-8487-485D-B3AE-677B9BC08C5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9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C39FA-8487-485D-B3AE-677B9BC08C5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25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5.03796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drive.google.com/file/d/13rmvefZ6oKO9IqYP-g06BAGWaLo4k-2q/view?usp=sharing" TargetMode="External"/><Relationship Id="rId5" Type="http://schemas.openxmlformats.org/officeDocument/2006/relationships/image" Target="../media/image4.svg"/><Relationship Id="rId10" Type="http://schemas.openxmlformats.org/officeDocument/2006/relationships/hyperlink" Target="https://dl.acm.org/doi/full/10.1145/3794859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ieeexplore.ieee.org/abstract/document/1131157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8405" y="3323336"/>
            <a:ext cx="9231747" cy="4935326"/>
          </a:xfrm>
          <a:custGeom>
            <a:avLst/>
            <a:gdLst/>
            <a:ahLst/>
            <a:cxnLst/>
            <a:rect l="l" t="t" r="r" b="b"/>
            <a:pathLst>
              <a:path w="9231747" h="4935326">
                <a:moveTo>
                  <a:pt x="0" y="0"/>
                </a:moveTo>
                <a:lnTo>
                  <a:pt x="9231746" y="0"/>
                </a:lnTo>
                <a:lnTo>
                  <a:pt x="9231746" y="4935326"/>
                </a:lnTo>
                <a:lnTo>
                  <a:pt x="0" y="4935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727" b="-443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30164" y="1392478"/>
            <a:ext cx="8027673" cy="1630802"/>
          </a:xfrm>
          <a:custGeom>
            <a:avLst/>
            <a:gdLst/>
            <a:ahLst/>
            <a:cxnLst/>
            <a:rect l="l" t="t" r="r" b="b"/>
            <a:pathLst>
              <a:path w="8027673" h="1630802">
                <a:moveTo>
                  <a:pt x="0" y="0"/>
                </a:moveTo>
                <a:lnTo>
                  <a:pt x="8027672" y="0"/>
                </a:lnTo>
                <a:lnTo>
                  <a:pt x="8027672" y="1630802"/>
                </a:lnTo>
                <a:lnTo>
                  <a:pt x="0" y="1630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85" b="-968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39333" y="8524710"/>
            <a:ext cx="3409334" cy="1114590"/>
          </a:xfrm>
          <a:custGeom>
            <a:avLst/>
            <a:gdLst/>
            <a:ahLst/>
            <a:cxnLst/>
            <a:rect l="l" t="t" r="r" b="b"/>
            <a:pathLst>
              <a:path w="3409334" h="1114590">
                <a:moveTo>
                  <a:pt x="0" y="0"/>
                </a:moveTo>
                <a:lnTo>
                  <a:pt x="3409334" y="0"/>
                </a:lnTo>
                <a:lnTo>
                  <a:pt x="3409334" y="1114589"/>
                </a:lnTo>
                <a:lnTo>
                  <a:pt x="0" y="1114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04392" y="990600"/>
            <a:ext cx="12023378" cy="29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6"/>
              </a:lnSpc>
            </a:pPr>
            <a:r>
              <a:rPr lang="en-US" sz="17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(An Initiative of Government of India, Ministry of Finance , Department of Financial Services)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8924" y="339398"/>
            <a:ext cx="1451431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dirty="0">
                <a:solidFill>
                  <a:srgbClr val="E92A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PSBs Hackathon Series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2906" y="2894674"/>
            <a:ext cx="2862189" cy="428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PRESENTS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26561" y="1974068"/>
            <a:ext cx="15634878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TEAM DETAILS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76C167A-4B7F-91D2-994F-AE9A30256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01579"/>
              </p:ext>
            </p:extLst>
          </p:nvPr>
        </p:nvGraphicFramePr>
        <p:xfrm>
          <a:off x="626184" y="3238500"/>
          <a:ext cx="17035628" cy="611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016">
                  <a:extLst>
                    <a:ext uri="{9D8B030D-6E8A-4147-A177-3AD203B41FA5}">
                      <a16:colId xmlns:a16="http://schemas.microsoft.com/office/drawing/2014/main" val="1813726928"/>
                    </a:ext>
                  </a:extLst>
                </a:gridCol>
                <a:gridCol w="6019798">
                  <a:extLst>
                    <a:ext uri="{9D8B030D-6E8A-4147-A177-3AD203B41FA5}">
                      <a16:colId xmlns:a16="http://schemas.microsoft.com/office/drawing/2014/main" val="75420284"/>
                    </a:ext>
                  </a:extLst>
                </a:gridCol>
                <a:gridCol w="2667002">
                  <a:extLst>
                    <a:ext uri="{9D8B030D-6E8A-4147-A177-3AD203B41FA5}">
                      <a16:colId xmlns:a16="http://schemas.microsoft.com/office/drawing/2014/main" val="1555674278"/>
                    </a:ext>
                  </a:extLst>
                </a:gridCol>
                <a:gridCol w="5850812">
                  <a:extLst>
                    <a:ext uri="{9D8B030D-6E8A-4147-A177-3AD203B41FA5}">
                      <a16:colId xmlns:a16="http://schemas.microsoft.com/office/drawing/2014/main" val="3234338863"/>
                    </a:ext>
                  </a:extLst>
                </a:gridCol>
              </a:tblGrid>
              <a:tr h="1055464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TEAM NAME</a:t>
                      </a:r>
                    </a:p>
                    <a:p>
                      <a:pPr algn="ctr"/>
                      <a:r>
                        <a:rPr lang="en-US" sz="2400" dirty="0"/>
                        <a:t>(AS SUBMITTED ON PORTAL)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GenZPT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046431"/>
                  </a:ext>
                </a:extLst>
              </a:tr>
              <a:tr h="100193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PROBLEM STATEMENT 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AI Driven Early Warning System for Internal &amp; Privileged User Fraud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909442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AREA OF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188233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400" b="0" i="0" dirty="0" err="1">
                          <a:solidFill>
                            <a:srgbClr val="000000"/>
                          </a:solidFill>
                          <a:effectLst/>
                        </a:rPr>
                        <a:t>Abhaykumar</a:t>
                      </a:r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</a:rPr>
                        <a:t> Roy</a:t>
                      </a:r>
                      <a:endParaRPr lang="en-IN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i="0" dirty="0">
                          <a:effectLst/>
                        </a:rPr>
                        <a:t>Male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i="0" dirty="0">
                          <a:effectLst/>
                        </a:rPr>
                        <a:t>Backend Developer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55424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</a:rPr>
                        <a:t>Dhiraj Agrawal</a:t>
                      </a:r>
                      <a:endParaRPr lang="en-IN" sz="24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i="0" dirty="0">
                          <a:effectLst/>
                        </a:rPr>
                        <a:t>Male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i="0" dirty="0" err="1">
                          <a:effectLst/>
                        </a:rPr>
                        <a:t>AiML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11573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</a:rPr>
                        <a:t>Aditya Thakare</a:t>
                      </a:r>
                      <a:endParaRPr lang="en-IN" sz="24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i="0" dirty="0">
                          <a:effectLst/>
                        </a:rPr>
                        <a:t>Male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i="0" dirty="0">
                          <a:effectLst/>
                        </a:rPr>
                        <a:t>Frontend Developer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615225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</a:rPr>
                        <a:t>Sanyam Patwari</a:t>
                      </a:r>
                      <a:endParaRPr lang="en-IN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i="0" dirty="0">
                          <a:effectLst/>
                        </a:rPr>
                        <a:t>Male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i="0" dirty="0">
                          <a:effectLst/>
                        </a:rPr>
                        <a:t>Banking &amp; Security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833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85802" y="1974068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 dirty="0" err="1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SurakshaAI</a:t>
            </a:r>
            <a:endParaRPr lang="en-US" sz="5400" u="sng" dirty="0">
              <a:solidFill>
                <a:srgbClr val="4472C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633" t="-14434" r="-13983" b="-14081"/>
            </a:stretch>
          </a:blipFill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88810F-1365-C383-A685-8E17ACD6A766}"/>
              </a:ext>
            </a:extLst>
          </p:cNvPr>
          <p:cNvSpPr/>
          <p:nvPr/>
        </p:nvSpPr>
        <p:spPr>
          <a:xfrm>
            <a:off x="1066800" y="3238500"/>
            <a:ext cx="4787026" cy="5620034"/>
          </a:xfrm>
          <a:prstGeom prst="roundRect">
            <a:avLst>
              <a:gd name="adj" fmla="val 392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4F6D63-FA6E-1CAC-EFA6-9B5F66AE41AB}"/>
              </a:ext>
            </a:extLst>
          </p:cNvPr>
          <p:cNvSpPr txBox="1"/>
          <p:nvPr/>
        </p:nvSpPr>
        <p:spPr>
          <a:xfrm>
            <a:off x="1295400" y="4335106"/>
            <a:ext cx="44196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Current Problem Landscape: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Problem: </a:t>
            </a:r>
            <a:r>
              <a:rPr lang="en-US" sz="2400" dirty="0"/>
              <a:t>78% of banks faced insider fraud in last 12 months. Detection takes 287 days.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Cost: $15.38M per incident.</a:t>
            </a:r>
            <a:endParaRPr lang="en-IN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3B3EDF-AA4F-A615-F873-25BE560940A8}"/>
              </a:ext>
            </a:extLst>
          </p:cNvPr>
          <p:cNvSpPr/>
          <p:nvPr/>
        </p:nvSpPr>
        <p:spPr>
          <a:xfrm>
            <a:off x="1220212" y="3390900"/>
            <a:ext cx="4494787" cy="871875"/>
          </a:xfrm>
          <a:prstGeom prst="roundRect">
            <a:avLst>
              <a:gd name="adj" fmla="val 29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1646EC-F28B-3D53-B31B-9405D09EE9E2}"/>
              </a:ext>
            </a:extLst>
          </p:cNvPr>
          <p:cNvSpPr txBox="1"/>
          <p:nvPr/>
        </p:nvSpPr>
        <p:spPr>
          <a:xfrm>
            <a:off x="2282662" y="3447147"/>
            <a:ext cx="3279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THE CHALLENGE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CB6869F-70DE-ACD7-3026-EF68AF73D1CD}"/>
              </a:ext>
            </a:extLst>
          </p:cNvPr>
          <p:cNvSpPr/>
          <p:nvPr/>
        </p:nvSpPr>
        <p:spPr>
          <a:xfrm>
            <a:off x="6626190" y="3163306"/>
            <a:ext cx="5108613" cy="6534790"/>
          </a:xfrm>
          <a:prstGeom prst="roundRect">
            <a:avLst>
              <a:gd name="adj" fmla="val 392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45B514-E79A-C4A8-B839-70D0768EF0B0}"/>
              </a:ext>
            </a:extLst>
          </p:cNvPr>
          <p:cNvSpPr txBox="1"/>
          <p:nvPr/>
        </p:nvSpPr>
        <p:spPr>
          <a:xfrm>
            <a:off x="6779603" y="4300286"/>
            <a:ext cx="4950651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AI-powered system that monitors privileged users across banking systems and detects fraud in real-time.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Real-time monitoring of core banking, treasury, loan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Behavioral baselining per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Anomaly detection with risk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Alerts with contextual explanations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Dashboard for fraud investigation team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414B515-62AC-581F-BC41-1669A50F856C}"/>
              </a:ext>
            </a:extLst>
          </p:cNvPr>
          <p:cNvSpPr/>
          <p:nvPr/>
        </p:nvSpPr>
        <p:spPr>
          <a:xfrm>
            <a:off x="6779603" y="3315706"/>
            <a:ext cx="4796742" cy="871875"/>
          </a:xfrm>
          <a:prstGeom prst="roundRect">
            <a:avLst>
              <a:gd name="adj" fmla="val 29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2B6BB6-CFF4-26D0-E100-11EFD7EFC9D5}"/>
              </a:ext>
            </a:extLst>
          </p:cNvPr>
          <p:cNvSpPr txBox="1"/>
          <p:nvPr/>
        </p:nvSpPr>
        <p:spPr>
          <a:xfrm>
            <a:off x="7848600" y="3410803"/>
            <a:ext cx="3500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THE SOLUTION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A3F452C-A794-E2AD-FCCE-D3C1C2DFE89B}"/>
              </a:ext>
            </a:extLst>
          </p:cNvPr>
          <p:cNvSpPr/>
          <p:nvPr/>
        </p:nvSpPr>
        <p:spPr>
          <a:xfrm>
            <a:off x="12496800" y="3219734"/>
            <a:ext cx="4787026" cy="5638800"/>
          </a:xfrm>
          <a:prstGeom prst="roundRect">
            <a:avLst>
              <a:gd name="adj" fmla="val 392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0A8076-33F6-E415-8801-D6738EB59E31}"/>
              </a:ext>
            </a:extLst>
          </p:cNvPr>
          <p:cNvSpPr txBox="1"/>
          <p:nvPr/>
        </p:nvSpPr>
        <p:spPr>
          <a:xfrm>
            <a:off x="12725400" y="4316340"/>
            <a:ext cx="4419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Uniqueness:</a:t>
            </a:r>
            <a:endParaRPr lang="en-IN" sz="2800" dirty="0"/>
          </a:p>
          <a:p>
            <a:r>
              <a:rPr lang="en-IN" sz="2400" dirty="0"/>
              <a:t>First solution combining </a:t>
            </a:r>
            <a:r>
              <a:rPr lang="en-IN" sz="2400" b="1" dirty="0"/>
              <a:t>Graph Neural Networks</a:t>
            </a:r>
            <a:r>
              <a:rPr lang="en-IN" sz="2400" dirty="0"/>
              <a:t> (detects multi-user collusion) + </a:t>
            </a:r>
            <a:r>
              <a:rPr lang="en-IN" sz="2400" b="1" dirty="0"/>
              <a:t>LLM Assistant</a:t>
            </a:r>
            <a:r>
              <a:rPr lang="en-IN" sz="2400" dirty="0"/>
              <a:t> (natural language investigation queries)</a:t>
            </a:r>
          </a:p>
          <a:p>
            <a:endParaRPr lang="en-IN" sz="2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71773B5-ACBE-BB32-9E01-DAED7D752736}"/>
              </a:ext>
            </a:extLst>
          </p:cNvPr>
          <p:cNvSpPr/>
          <p:nvPr/>
        </p:nvSpPr>
        <p:spPr>
          <a:xfrm>
            <a:off x="12650212" y="3372134"/>
            <a:ext cx="4494787" cy="871875"/>
          </a:xfrm>
          <a:prstGeom prst="roundRect">
            <a:avLst>
              <a:gd name="adj" fmla="val 29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68BED1-0796-ADFC-E75F-A03D00E2FCE6}"/>
              </a:ext>
            </a:extLst>
          </p:cNvPr>
          <p:cNvSpPr txBox="1"/>
          <p:nvPr/>
        </p:nvSpPr>
        <p:spPr>
          <a:xfrm>
            <a:off x="13712662" y="3428381"/>
            <a:ext cx="3279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INNOVATION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4728A80-5811-54D6-49A5-EFC95E7C55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197" y="6968504"/>
            <a:ext cx="1960184" cy="1493032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449B957-D2D8-CC7A-D6B5-735952F1F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0083" y="7031803"/>
            <a:ext cx="1676400" cy="138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D0D37A33-AAEF-308C-8685-CFACB1992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7562" y="3372134"/>
            <a:ext cx="778394" cy="81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AE602B85-BC7D-B438-D6CD-91E71D8B9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276" y="3205784"/>
            <a:ext cx="981797" cy="98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60C2486D-0CA3-55AD-787C-7FAA86630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212" y="3315706"/>
            <a:ext cx="1004450" cy="108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827C7FC5-046D-AF32-5241-177715BF4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92"/>
          <a:stretch>
            <a:fillRect/>
          </a:stretch>
        </p:blipFill>
        <p:spPr bwMode="auto">
          <a:xfrm>
            <a:off x="1295400" y="6771223"/>
            <a:ext cx="4466526" cy="217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4020" y="1974068"/>
            <a:ext cx="1655996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OUTLINE OF UNIQUE &amp; INNOVAITVE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2DF14F-5214-00C0-B681-24D2CFD6250A}"/>
              </a:ext>
            </a:extLst>
          </p:cNvPr>
          <p:cNvSpPr/>
          <p:nvPr/>
        </p:nvSpPr>
        <p:spPr>
          <a:xfrm>
            <a:off x="990600" y="2964668"/>
            <a:ext cx="15925800" cy="7022561"/>
          </a:xfrm>
          <a:prstGeom prst="roundRect">
            <a:avLst>
              <a:gd name="adj" fmla="val 299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3E2F3C2-80C3-0435-7822-614ABD790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862455"/>
              </p:ext>
            </p:extLst>
          </p:nvPr>
        </p:nvGraphicFramePr>
        <p:xfrm>
          <a:off x="1307796" y="3162300"/>
          <a:ext cx="15431410" cy="52428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715705">
                  <a:extLst>
                    <a:ext uri="{9D8B030D-6E8A-4147-A177-3AD203B41FA5}">
                      <a16:colId xmlns:a16="http://schemas.microsoft.com/office/drawing/2014/main" val="4175704771"/>
                    </a:ext>
                  </a:extLst>
                </a:gridCol>
                <a:gridCol w="7715705">
                  <a:extLst>
                    <a:ext uri="{9D8B030D-6E8A-4147-A177-3AD203B41FA5}">
                      <a16:colId xmlns:a16="http://schemas.microsoft.com/office/drawing/2014/main" val="831386770"/>
                    </a:ext>
                  </a:extLst>
                </a:gridCol>
              </a:tblGrid>
              <a:tr h="104856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3200" b="1" dirty="0">
                          <a:effectLst/>
                          <a:latin typeface="quote-cjk-patch"/>
                        </a:rPr>
                        <a:t>Existing Solutions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3200" b="1" dirty="0">
                          <a:effectLst/>
                          <a:latin typeface="quote-cjk-patch"/>
                        </a:rPr>
                        <a:t>Our Solution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247243040"/>
                  </a:ext>
                </a:extLst>
              </a:tr>
              <a:tr h="104856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Individual user monitoring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2800" b="1" dirty="0">
                          <a:effectLst/>
                          <a:latin typeface="quote-cjk-patch"/>
                        </a:rPr>
                        <a:t>GNN Collusion Detection</a:t>
                      </a:r>
                      <a:r>
                        <a:rPr lang="en-IN" sz="2800" b="0" dirty="0">
                          <a:effectLst/>
                          <a:latin typeface="quote-cjk-patch"/>
                        </a:rPr>
                        <a:t> –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catches fraud rings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653859110"/>
                  </a:ext>
                </a:extLst>
              </a:tr>
              <a:tr h="104856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Manual log analysis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fr-FR" sz="2800" b="1" dirty="0">
                          <a:effectLst/>
                          <a:latin typeface="quote-cjk-patch"/>
                        </a:rPr>
                        <a:t>LLM Assistant</a:t>
                      </a:r>
                      <a:r>
                        <a:rPr lang="fr-FR" sz="2800" b="0" dirty="0">
                          <a:effectLst/>
                          <a:latin typeface="quote-cjk-patch"/>
                        </a:rPr>
                        <a:t> –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fr-FR" sz="2800" b="0" dirty="0" err="1">
                          <a:effectLst/>
                          <a:latin typeface="quote-cjk-patch"/>
                        </a:rPr>
                        <a:t>natural</a:t>
                      </a:r>
                      <a:r>
                        <a:rPr lang="fr-FR" sz="2800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fr-FR" sz="2800" b="0" dirty="0" err="1">
                          <a:effectLst/>
                          <a:latin typeface="quote-cjk-patch"/>
                        </a:rPr>
                        <a:t>language</a:t>
                      </a:r>
                      <a:r>
                        <a:rPr lang="fr-FR" sz="2800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fr-FR" sz="2800" b="0" dirty="0" err="1">
                          <a:effectLst/>
                          <a:latin typeface="quote-cjk-patch"/>
                        </a:rPr>
                        <a:t>queries</a:t>
                      </a:r>
                      <a:endParaRPr lang="fr-FR" sz="28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24738117"/>
                  </a:ext>
                </a:extLst>
              </a:tr>
              <a:tr h="104856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Static risk scores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800" b="1" dirty="0">
                          <a:effectLst/>
                          <a:latin typeface="quote-cjk-patch"/>
                        </a:rPr>
                        <a:t>Risk Propagation</a:t>
                      </a:r>
                      <a:r>
                        <a:rPr lang="en-US" sz="2800" b="0" dirty="0">
                          <a:effectLst/>
                          <a:latin typeface="quote-cjk-patch"/>
                        </a:rPr>
                        <a:t> –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quote-cjk-patch"/>
                        </a:rPr>
                        <a:t>connected users auto-updated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837347254"/>
                  </a:ext>
                </a:extLst>
              </a:tr>
              <a:tr h="104856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Generic approach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2800" b="1" dirty="0">
                          <a:effectLst/>
                          <a:latin typeface="quote-cjk-patch"/>
                        </a:rPr>
                        <a:t>Privileged User Focus</a:t>
                      </a:r>
                      <a:r>
                        <a:rPr lang="en-IN" sz="2800" b="0" dirty="0">
                          <a:effectLst/>
                          <a:latin typeface="quote-cjk-patch"/>
                        </a:rPr>
                        <a:t> –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specialized models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972381529"/>
                  </a:ext>
                </a:extLst>
              </a:tr>
            </a:tbl>
          </a:graphicData>
        </a:graphic>
      </p:graphicFrame>
      <p:pic>
        <p:nvPicPr>
          <p:cNvPr id="2054" name="Picture 6">
            <a:extLst>
              <a:ext uri="{FF2B5EF4-FFF2-40B4-BE49-F238E27FC236}">
                <a16:creationId xmlns:a16="http://schemas.microsoft.com/office/drawing/2014/main" id="{BC2149DD-0116-4D8F-BB77-D2FBD4D32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418480"/>
            <a:ext cx="1472032" cy="3894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825F0E-0BCE-E781-ECE0-1EE0ADFB60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0425" y="4246977"/>
            <a:ext cx="1516595" cy="408383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C0140BC-4A00-A622-4DC5-D1BF459940EF}"/>
              </a:ext>
            </a:extLst>
          </p:cNvPr>
          <p:cNvSpPr/>
          <p:nvPr/>
        </p:nvSpPr>
        <p:spPr>
          <a:xfrm>
            <a:off x="1637390" y="8576575"/>
            <a:ext cx="15101816" cy="1239204"/>
          </a:xfrm>
          <a:prstGeom prst="roundRect">
            <a:avLst>
              <a:gd name="adj" fmla="val 1762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D1488-11BC-8D1C-4089-F1F0E64A8730}"/>
              </a:ext>
            </a:extLst>
          </p:cNvPr>
          <p:cNvSpPr txBox="1"/>
          <p:nvPr/>
        </p:nvSpPr>
        <p:spPr>
          <a:xfrm>
            <a:off x="4050997" y="8596012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Innovation:</a:t>
            </a:r>
            <a:r>
              <a:rPr lang="en-US" sz="3600" dirty="0"/>
              <a:t> No commercial platform offers </a:t>
            </a:r>
            <a:r>
              <a:rPr lang="en-US" sz="3600" b="1" dirty="0"/>
              <a:t>GNN-based collusion detection + LLM investigation</a:t>
            </a:r>
            <a:r>
              <a:rPr lang="en-US" sz="3600" dirty="0"/>
              <a:t> in one system.</a:t>
            </a:r>
            <a:endParaRPr lang="en-IN" sz="3600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A996D0BF-EC0D-D1F4-04F8-BDD4DE9A1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939" y="8602757"/>
            <a:ext cx="2018509" cy="112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85802" y="1974068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TECHNICAL APPROACH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F6255C1-E27D-012F-BE01-A86F556FC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563655"/>
              </p:ext>
            </p:extLst>
          </p:nvPr>
        </p:nvGraphicFramePr>
        <p:xfrm>
          <a:off x="1498295" y="3072857"/>
          <a:ext cx="15291406" cy="3171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5703">
                  <a:extLst>
                    <a:ext uri="{9D8B030D-6E8A-4147-A177-3AD203B41FA5}">
                      <a16:colId xmlns:a16="http://schemas.microsoft.com/office/drawing/2014/main" val="1459449642"/>
                    </a:ext>
                  </a:extLst>
                </a:gridCol>
                <a:gridCol w="7645703">
                  <a:extLst>
                    <a:ext uri="{9D8B030D-6E8A-4147-A177-3AD203B41FA5}">
                      <a16:colId xmlns:a16="http://schemas.microsoft.com/office/drawing/2014/main" val="1243804216"/>
                    </a:ext>
                  </a:extLst>
                </a:gridCol>
              </a:tblGrid>
              <a:tr h="533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334904"/>
                  </a:ext>
                </a:extLst>
              </a:tr>
              <a:tr h="4320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0">
                          <a:effectLst/>
                          <a:latin typeface="quote-cjk-patch"/>
                        </a:rPr>
                        <a:t>Data Ingestion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1">
                          <a:effectLst/>
                          <a:latin typeface="quote-cjk-patch"/>
                        </a:rPr>
                        <a:t>Kafka</a:t>
                      </a:r>
                      <a:endParaRPr lang="en-IN" sz="24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408850054"/>
                  </a:ext>
                </a:extLst>
              </a:tr>
              <a:tr h="4320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0" dirty="0">
                          <a:effectLst/>
                          <a:latin typeface="quote-cjk-patch"/>
                        </a:rPr>
                        <a:t>Stream Processing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1">
                          <a:effectLst/>
                          <a:latin typeface="quote-cjk-patch"/>
                        </a:rPr>
                        <a:t>Apache Flink</a:t>
                      </a:r>
                      <a:endParaRPr lang="en-IN" sz="24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117717374"/>
                  </a:ext>
                </a:extLst>
              </a:tr>
              <a:tr h="4320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0">
                          <a:effectLst/>
                          <a:latin typeface="quote-cjk-patch"/>
                        </a:rPr>
                        <a:t>ML Models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1" dirty="0">
                          <a:effectLst/>
                          <a:latin typeface="quote-cjk-patch"/>
                        </a:rPr>
                        <a:t>Python, </a:t>
                      </a:r>
                      <a:r>
                        <a:rPr lang="en-IN" sz="2400" b="1" dirty="0" err="1">
                          <a:effectLst/>
                          <a:latin typeface="quote-cjk-patch"/>
                        </a:rPr>
                        <a:t>PyTorch</a:t>
                      </a:r>
                      <a:r>
                        <a:rPr lang="en-IN" sz="2400" b="1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-IN" sz="2400" b="1" dirty="0" err="1">
                          <a:effectLst/>
                          <a:latin typeface="quote-cjk-patch"/>
                        </a:rPr>
                        <a:t>PyTorch</a:t>
                      </a:r>
                      <a:r>
                        <a:rPr lang="en-IN" sz="2400" b="1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IN" sz="2400" b="1">
                          <a:effectLst/>
                          <a:latin typeface="quote-cjk-patch"/>
                        </a:rPr>
                        <a:t>Geometric, scikit-learn</a:t>
                      </a:r>
                      <a:endParaRPr lang="en-IN" sz="24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23198862"/>
                  </a:ext>
                </a:extLst>
              </a:tr>
              <a:tr h="4320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0">
                          <a:effectLst/>
                          <a:latin typeface="quote-cjk-patch"/>
                        </a:rPr>
                        <a:t>LLM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1" dirty="0">
                          <a:effectLst/>
                          <a:latin typeface="quote-cjk-patch"/>
                        </a:rPr>
                        <a:t>Gemini 2.5 Flash API</a:t>
                      </a:r>
                      <a:endParaRPr lang="en-IN" sz="24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77116894"/>
                  </a:ext>
                </a:extLst>
              </a:tr>
              <a:tr h="4320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0">
                          <a:effectLst/>
                          <a:latin typeface="quote-cjk-patch"/>
                        </a:rPr>
                        <a:t>Storage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1">
                          <a:effectLst/>
                          <a:latin typeface="quote-cjk-patch"/>
                        </a:rPr>
                        <a:t>Elasticsearch, PostgreSQL</a:t>
                      </a:r>
                      <a:endParaRPr lang="en-IN" sz="24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900211877"/>
                  </a:ext>
                </a:extLst>
              </a:tr>
              <a:tr h="43202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0">
                          <a:effectLst/>
                          <a:latin typeface="quote-cjk-patch"/>
                        </a:rPr>
                        <a:t>Dashboard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400" b="1" dirty="0">
                          <a:effectLst/>
                          <a:latin typeface="quote-cjk-patch"/>
                        </a:rPr>
                        <a:t>React, WebSocket</a:t>
                      </a:r>
                      <a:endParaRPr lang="en-IN" sz="24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51838827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C25DE7FF-7AF9-3782-26A1-1033FEE8BF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8295" y="6753273"/>
            <a:ext cx="15240912" cy="2035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6C6746-9B8F-F721-C602-AAF13A1FF0FF}"/>
              </a:ext>
            </a:extLst>
          </p:cNvPr>
          <p:cNvSpPr txBox="1"/>
          <p:nvPr/>
        </p:nvSpPr>
        <p:spPr>
          <a:xfrm>
            <a:off x="1498294" y="9174876"/>
            <a:ext cx="135893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quote-cjk-patch"/>
              </a:rPr>
              <a:t>Data Source:</a:t>
            </a:r>
            <a:r>
              <a:rPr lang="en-US" sz="2800" b="0" i="0" dirty="0">
                <a:effectLst/>
                <a:latin typeface="quote-cjk-patch"/>
              </a:rPr>
              <a:t> CMU CERT Dataset (135M events, 4,000 users, validated threat scenarios)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85802" y="1974068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FEASIBILITY &amp; VIABILITY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AE95EB2-25EB-D855-C4C3-22F97D0A55C4}"/>
              </a:ext>
            </a:extLst>
          </p:cNvPr>
          <p:cNvGraphicFramePr>
            <a:graphicFrameLocks noGrp="1"/>
          </p:cNvGraphicFramePr>
          <p:nvPr/>
        </p:nvGraphicFramePr>
        <p:xfrm>
          <a:off x="2302166" y="2949027"/>
          <a:ext cx="13928436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5834">
                  <a:extLst>
                    <a:ext uri="{9D8B030D-6E8A-4147-A177-3AD203B41FA5}">
                      <a16:colId xmlns:a16="http://schemas.microsoft.com/office/drawing/2014/main" val="144012660"/>
                    </a:ext>
                  </a:extLst>
                </a:gridCol>
                <a:gridCol w="9372602">
                  <a:extLst>
                    <a:ext uri="{9D8B030D-6E8A-4147-A177-3AD203B41FA5}">
                      <a16:colId xmlns:a16="http://schemas.microsoft.com/office/drawing/2014/main" val="2503652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Aspect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Assessment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80884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 dirty="0">
                          <a:effectLst/>
                          <a:latin typeface="quote-cjk-patch"/>
                        </a:rPr>
                        <a:t>Data</a:t>
                      </a:r>
                      <a:endParaRPr lang="en-IN" sz="28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quote-cjk-patch"/>
                        </a:rPr>
                        <a:t>CMU CERT dataset provides realistic banking logs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62854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 dirty="0">
                          <a:effectLst/>
                          <a:latin typeface="quote-cjk-patch"/>
                        </a:rPr>
                        <a:t>Technology</a:t>
                      </a:r>
                      <a:endParaRPr lang="en-IN" sz="28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quote-cjk-patch"/>
                        </a:rPr>
                        <a:t>All tools are production-proven (Kafka, </a:t>
                      </a:r>
                      <a:r>
                        <a:rPr lang="en-US" sz="2800" b="0" dirty="0" err="1">
                          <a:effectLst/>
                          <a:latin typeface="quote-cjk-patch"/>
                        </a:rPr>
                        <a:t>PyTorch</a:t>
                      </a:r>
                      <a:r>
                        <a:rPr lang="en-US" sz="2800" b="0" dirty="0">
                          <a:effectLst/>
                          <a:latin typeface="quote-cjk-patch"/>
                        </a:rPr>
                        <a:t>, Elasticsearch)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937158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 dirty="0">
                          <a:effectLst/>
                          <a:latin typeface="quote-cjk-patch"/>
                        </a:rPr>
                        <a:t>Models</a:t>
                      </a:r>
                      <a:endParaRPr lang="en-IN" sz="28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quote-cjk-patch"/>
                        </a:rPr>
                        <a:t>Autoencoders reduce false positives by 59% (proven in academic papers)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50666109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60BBB00-6172-7278-FA40-1AB4E6B90956}"/>
              </a:ext>
            </a:extLst>
          </p:cNvPr>
          <p:cNvSpPr txBox="1"/>
          <p:nvPr/>
        </p:nvSpPr>
        <p:spPr>
          <a:xfrm>
            <a:off x="2302166" y="6129237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sng" dirty="0">
                <a:effectLst/>
                <a:latin typeface="quote-cjk-patch"/>
              </a:rPr>
              <a:t>Key Challenges &amp; Mitigations</a:t>
            </a:r>
            <a:r>
              <a:rPr lang="en-IN" sz="2800" b="1" i="0" dirty="0">
                <a:effectLst/>
                <a:latin typeface="quote-cjk-patch"/>
              </a:rPr>
              <a:t>:</a:t>
            </a:r>
            <a:endParaRPr lang="en-IN" sz="28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61A8423-3012-4A7F-C872-0A37AB084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29472"/>
              </p:ext>
            </p:extLst>
          </p:nvPr>
        </p:nvGraphicFramePr>
        <p:xfrm>
          <a:off x="2302166" y="6858450"/>
          <a:ext cx="13944602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2034">
                  <a:extLst>
                    <a:ext uri="{9D8B030D-6E8A-4147-A177-3AD203B41FA5}">
                      <a16:colId xmlns:a16="http://schemas.microsoft.com/office/drawing/2014/main" val="144012660"/>
                    </a:ext>
                  </a:extLst>
                </a:gridCol>
                <a:gridCol w="9312568">
                  <a:extLst>
                    <a:ext uri="{9D8B030D-6E8A-4147-A177-3AD203B41FA5}">
                      <a16:colId xmlns:a16="http://schemas.microsoft.com/office/drawing/2014/main" val="2503652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+mj-lt"/>
                        </a:rPr>
                        <a:t>Challenge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+mj-lt"/>
                        </a:rPr>
                        <a:t>Mitigation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80884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+mj-lt"/>
                        </a:rPr>
                        <a:t>Real-world log formats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+mj-lt"/>
                        </a:rPr>
                        <a:t>Adapter pattern for easy integration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62854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+mj-lt"/>
                        </a:rPr>
                        <a:t>GNN complexity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>
                          <a:effectLst/>
                          <a:latin typeface="+mj-lt"/>
                        </a:rPr>
                        <a:t>Start with simpler graph algorithms, then scale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93715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+mj-lt"/>
                        </a:rPr>
                        <a:t>False positives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+mj-lt"/>
                        </a:rPr>
                        <a:t>Human-in-the-loop feedback + continuous retraining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5066610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230" t="-89762" r="-26367" b="-15679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85802" y="1974068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IMPACT &amp; BENEFITS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633" t="-14434" r="-13983" b="-14081"/>
            </a:stretch>
          </a:blipFill>
        </p:spPr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1F7AE754-98FB-077B-1003-3DB3A387E57B}"/>
              </a:ext>
            </a:extLst>
          </p:cNvPr>
          <p:cNvSpPr/>
          <p:nvPr/>
        </p:nvSpPr>
        <p:spPr>
          <a:xfrm>
            <a:off x="1121271" y="3220836"/>
            <a:ext cx="7932688" cy="2077343"/>
          </a:xfrm>
          <a:prstGeom prst="roundRect">
            <a:avLst>
              <a:gd name="adj" fmla="val 15952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C1EA6005-3F39-22B9-988B-196D05EE1164}"/>
              </a:ext>
            </a:extLst>
          </p:cNvPr>
          <p:cNvSpPr/>
          <p:nvPr/>
        </p:nvSpPr>
        <p:spPr>
          <a:xfrm>
            <a:off x="1370707" y="3470273"/>
            <a:ext cx="2906763" cy="382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13"/>
              </a:lnSpc>
            </a:pPr>
            <a:r>
              <a:rPr lang="en-US" sz="3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👥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Audience</a:t>
            </a:r>
            <a:endParaRPr lang="en-US" sz="32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4D237FFD-539D-25DE-3CFF-3F4B22993D4E}"/>
              </a:ext>
            </a:extLst>
          </p:cNvPr>
          <p:cNvSpPr/>
          <p:nvPr/>
        </p:nvSpPr>
        <p:spPr>
          <a:xfrm>
            <a:off x="1370708" y="3960661"/>
            <a:ext cx="7433816" cy="1088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28625" indent="-428625"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CISO: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Real-time visibility into threats</a:t>
            </a:r>
            <a:endParaRPr lang="en-US" sz="2100" dirty="0">
              <a:latin typeface="+mj-lt"/>
            </a:endParaRPr>
          </a:p>
          <a:p>
            <a:pPr marL="428625" indent="-428625"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Investigator: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Investigation time reduced from 4hrs to 30min</a:t>
            </a:r>
            <a:endParaRPr lang="en-US" sz="2100" dirty="0">
              <a:latin typeface="+mj-lt"/>
            </a:endParaRPr>
          </a:p>
          <a:p>
            <a:pPr marL="428625" indent="-428625"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Compliance Officer: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Provides audit-ready trails for regulations</a:t>
            </a:r>
            <a:endParaRPr lang="en-US" sz="2100" dirty="0">
              <a:latin typeface="+mj-lt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D400A866-3A87-8FFC-8E15-F7BDF2C4051B}"/>
              </a:ext>
            </a:extLst>
          </p:cNvPr>
          <p:cNvSpPr/>
          <p:nvPr/>
        </p:nvSpPr>
        <p:spPr>
          <a:xfrm>
            <a:off x="9234041" y="3220836"/>
            <a:ext cx="7932688" cy="2077343"/>
          </a:xfrm>
          <a:prstGeom prst="roundRect">
            <a:avLst>
              <a:gd name="adj" fmla="val 15952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6DAC49BC-84FD-9818-C1D6-DA782D982A80}"/>
              </a:ext>
            </a:extLst>
          </p:cNvPr>
          <p:cNvSpPr/>
          <p:nvPr/>
        </p:nvSpPr>
        <p:spPr>
          <a:xfrm>
            <a:off x="9483477" y="3470273"/>
            <a:ext cx="2906763" cy="382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13"/>
              </a:lnSpc>
            </a:pPr>
            <a:r>
              <a:rPr lang="en-US" sz="3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💰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Economic</a:t>
            </a:r>
            <a:endParaRPr lang="en-US" sz="32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F8F1988-8E20-7C76-7A32-D11DEC888BC4}"/>
              </a:ext>
            </a:extLst>
          </p:cNvPr>
          <p:cNvSpPr/>
          <p:nvPr/>
        </p:nvSpPr>
        <p:spPr>
          <a:xfrm>
            <a:off x="9483478" y="3960661"/>
            <a:ext cx="7433816" cy="1088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28625" indent="-428625"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Fraud Loss: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80% reduction, from $15.38M to $3M</a:t>
            </a:r>
            <a:endParaRPr lang="en-US" sz="2100" dirty="0">
              <a:latin typeface="+mj-lt"/>
            </a:endParaRPr>
          </a:p>
          <a:p>
            <a:pPr marL="428625" indent="-428625"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Investigation Time: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Decreased by 87%</a:t>
            </a:r>
            <a:endParaRPr lang="en-US" sz="2100" dirty="0">
              <a:latin typeface="+mj-lt"/>
            </a:endParaRPr>
          </a:p>
          <a:p>
            <a:pPr marL="428625" indent="-428625"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ROI: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Achieved 7.6x within the first year</a:t>
            </a:r>
            <a:endParaRPr lang="en-US" sz="2100" dirty="0">
              <a:latin typeface="+mj-lt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3F92AAFF-8572-E94B-285C-2FEAB46F1F0F}"/>
              </a:ext>
            </a:extLst>
          </p:cNvPr>
          <p:cNvSpPr/>
          <p:nvPr/>
        </p:nvSpPr>
        <p:spPr>
          <a:xfrm>
            <a:off x="1121271" y="5478262"/>
            <a:ext cx="7932688" cy="3039516"/>
          </a:xfrm>
          <a:prstGeom prst="roundRect">
            <a:avLst>
              <a:gd name="adj" fmla="val 10902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0F511AA2-C5C6-D7C2-DA3B-4A18284596C8}"/>
              </a:ext>
            </a:extLst>
          </p:cNvPr>
          <p:cNvSpPr/>
          <p:nvPr/>
        </p:nvSpPr>
        <p:spPr>
          <a:xfrm>
            <a:off x="1370707" y="5727698"/>
            <a:ext cx="2906763" cy="382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13"/>
              </a:lnSpc>
            </a:pPr>
            <a:r>
              <a:rPr lang="en-US" sz="3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🤝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Social</a:t>
            </a:r>
            <a:endParaRPr lang="en-US" sz="32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76DD58B0-E9DC-1150-BC69-1842BEA3FB27}"/>
              </a:ext>
            </a:extLst>
          </p:cNvPr>
          <p:cNvSpPr/>
          <p:nvPr/>
        </p:nvSpPr>
        <p:spPr>
          <a:xfrm>
            <a:off x="1370708" y="6218086"/>
            <a:ext cx="7433816" cy="1088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28625" indent="-428625">
              <a:lnSpc>
                <a:spcPts val="2500"/>
              </a:lnSpc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Customer Trust: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Increased by 40%</a:t>
            </a:r>
            <a:endParaRPr lang="en-US" sz="2100" dirty="0">
              <a:latin typeface="+mj-lt"/>
            </a:endParaRPr>
          </a:p>
          <a:p>
            <a:pPr marL="428625" indent="-428625">
              <a:lnSpc>
                <a:spcPts val="2500"/>
              </a:lnSpc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Employee Privacy: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Ensured through role-based monitoring</a:t>
            </a:r>
            <a:endParaRPr lang="en-US" sz="2100" dirty="0">
              <a:latin typeface="+mj-lt"/>
            </a:endParaRPr>
          </a:p>
          <a:p>
            <a:pPr marL="428625" indent="-428625">
              <a:lnSpc>
                <a:spcPts val="2500"/>
              </a:lnSpc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Investigator Well-being: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Improved with 60% fewer false alerts</a:t>
            </a:r>
            <a:endParaRPr lang="en-US" sz="2100" dirty="0">
              <a:latin typeface="+mj-lt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49121867-74F3-0D80-A8A0-8489DA019F00}"/>
              </a:ext>
            </a:extLst>
          </p:cNvPr>
          <p:cNvSpPr/>
          <p:nvPr/>
        </p:nvSpPr>
        <p:spPr>
          <a:xfrm>
            <a:off x="9234041" y="5478262"/>
            <a:ext cx="7932688" cy="3039516"/>
          </a:xfrm>
          <a:prstGeom prst="roundRect">
            <a:avLst>
              <a:gd name="adj" fmla="val 10902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E06D3F96-42A3-66C4-DEC1-6045BA0B7364}"/>
              </a:ext>
            </a:extLst>
          </p:cNvPr>
          <p:cNvSpPr/>
          <p:nvPr/>
        </p:nvSpPr>
        <p:spPr>
          <a:xfrm>
            <a:off x="9483477" y="5727698"/>
            <a:ext cx="2906763" cy="382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13"/>
              </a:lnSpc>
            </a:pPr>
            <a:r>
              <a:rPr lang="en-US" sz="3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🌱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Environment</a:t>
            </a:r>
            <a:endParaRPr lang="en-US" sz="32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1D992AA1-4E88-72DC-90B2-2666DE1E5646}"/>
              </a:ext>
            </a:extLst>
          </p:cNvPr>
          <p:cNvSpPr/>
          <p:nvPr/>
        </p:nvSpPr>
        <p:spPr>
          <a:xfrm>
            <a:off x="9483478" y="6218087"/>
            <a:ext cx="7433816" cy="2050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28625" indent="-428625">
              <a:lnSpc>
                <a:spcPts val="2500"/>
              </a:lnSpc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Energy Efficiency: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Serverless architecture scales on demand, reducing consumption</a:t>
            </a:r>
            <a:endParaRPr lang="en-US" sz="2100" dirty="0">
              <a:latin typeface="+mj-lt"/>
            </a:endParaRPr>
          </a:p>
          <a:p>
            <a:pPr marL="428625" indent="-428625">
              <a:lnSpc>
                <a:spcPts val="2500"/>
              </a:lnSpc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Paperless: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100% digital case management eliminates paper waste</a:t>
            </a:r>
            <a:endParaRPr lang="en-US" sz="2100" dirty="0">
              <a:latin typeface="+mj-lt"/>
            </a:endParaRPr>
          </a:p>
          <a:p>
            <a:pPr marL="428625" indent="-428625">
              <a:lnSpc>
                <a:spcPts val="2500"/>
              </a:lnSpc>
              <a:buSzPct val="100000"/>
              <a:buChar char="•"/>
            </a:pPr>
            <a:r>
              <a:rPr lang="en-US" sz="2100" b="1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Carbon Footprint:</a:t>
            </a:r>
            <a:r>
              <a:rPr lang="en-US" sz="2100" dirty="0">
                <a:solidFill>
                  <a:srgbClr val="384653"/>
                </a:solidFill>
                <a:latin typeface="+mj-lt"/>
                <a:ea typeface="Montserrat" pitchFamily="34" charset="-122"/>
                <a:cs typeface="Montserrat" pitchFamily="34" charset="-120"/>
              </a:rPr>
              <a:t> Reduced through optimized processes and remote team support</a:t>
            </a:r>
            <a:endParaRPr lang="en-US" sz="2100" dirty="0">
              <a:latin typeface="+mj-l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DA29772-0B9B-077B-E55A-474FCC2C17F4}"/>
              </a:ext>
            </a:extLst>
          </p:cNvPr>
          <p:cNvSpPr/>
          <p:nvPr/>
        </p:nvSpPr>
        <p:spPr>
          <a:xfrm>
            <a:off x="1452563" y="8923187"/>
            <a:ext cx="15714166" cy="320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“80% fraud reduction, 87% faster investigations, 7.6x ROI—while protecting customer trust, privacy, and the environment.”</a:t>
            </a:r>
            <a:endParaRPr lang="en-US" sz="2400" b="1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3382DEBF-65EE-7D10-632F-5134118BB468}"/>
              </a:ext>
            </a:extLst>
          </p:cNvPr>
          <p:cNvSpPr/>
          <p:nvPr/>
        </p:nvSpPr>
        <p:spPr>
          <a:xfrm>
            <a:off x="1121271" y="8720483"/>
            <a:ext cx="28575" cy="726133"/>
          </a:xfrm>
          <a:prstGeom prst="rect">
            <a:avLst/>
          </a:prstGeom>
          <a:solidFill>
            <a:srgbClr val="75BAE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85802" y="1974068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BUSINESS MODEL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F1CCF8-B6E4-9102-D5E4-E36E20C16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1332228-656A-3E26-A87E-B6A3E3D33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DA60A22-6DD8-364A-5A98-DBAE55B9F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7CEFAA-B5B7-C384-5AB8-C3B6BF6BE1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479" y="3467100"/>
            <a:ext cx="10267950" cy="5715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FC4307-77D2-9693-8DBD-B7ECFDEF40BB}"/>
              </a:ext>
            </a:extLst>
          </p:cNvPr>
          <p:cNvSpPr txBox="1"/>
          <p:nvPr/>
        </p:nvSpPr>
        <p:spPr>
          <a:xfrm>
            <a:off x="11111681" y="3543300"/>
            <a:ext cx="6172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Value Proposition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GNN collusion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LLM investigation assistant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Real-time monitoring 60% reduction in false positives vs. rule-based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Explainable AI </a:t>
            </a:r>
          </a:p>
          <a:p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941888-2B31-F318-E52B-72B69C278EDE}"/>
              </a:ext>
            </a:extLst>
          </p:cNvPr>
          <p:cNvSpPr txBox="1"/>
          <p:nvPr/>
        </p:nvSpPr>
        <p:spPr>
          <a:xfrm>
            <a:off x="11111681" y="6651843"/>
            <a:ext cx="6324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🎯 Target Customers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Tier 1 Banks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Regional Banks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Fintech Companies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Decision Makers(CISO)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932383" y="1682880"/>
            <a:ext cx="1042322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 dirty="0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RESEARCH &amp; REFERENCES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D590C2-A568-EB00-F3CC-5F49FA038EEA}"/>
              </a:ext>
            </a:extLst>
          </p:cNvPr>
          <p:cNvSpPr txBox="1"/>
          <p:nvPr/>
        </p:nvSpPr>
        <p:spPr>
          <a:xfrm>
            <a:off x="878238" y="2468846"/>
            <a:ext cx="165315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1] </a:t>
            </a:r>
            <a:r>
              <a:rPr lang="en-US" sz="2400" b="1" dirty="0"/>
              <a:t>AI-Driven Insider Risk Management with Adaptive Scoring (2025)</a:t>
            </a:r>
          </a:p>
          <a:p>
            <a:pPr lvl="1"/>
            <a:r>
              <a:rPr lang="en-US" sz="2400" dirty="0"/>
              <a:t>This paper proposes an AI-based system that detects insider threats using </a:t>
            </a:r>
            <a:r>
              <a:rPr lang="en-US" sz="2400" b="1" dirty="0"/>
              <a:t>behavioral analysis + dynamic risk scoring</a:t>
            </a:r>
            <a:r>
              <a:rPr lang="en-US" sz="2400" dirty="0"/>
              <a:t>. It improves detection accuracy and reduces false positives using deep learning models and continuous feedback learning.  (</a:t>
            </a:r>
            <a:r>
              <a:rPr lang="en-IN" sz="2400" dirty="0">
                <a:hlinkClick r:id="rId8"/>
              </a:rPr>
              <a:t>https://arxiv.org/abs/2505.03796</a:t>
            </a:r>
            <a:r>
              <a:rPr lang="en-IN" sz="2400" dirty="0"/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AEB08-31A8-8552-81B4-E78C35041B74}"/>
              </a:ext>
            </a:extLst>
          </p:cNvPr>
          <p:cNvSpPr txBox="1"/>
          <p:nvPr/>
        </p:nvSpPr>
        <p:spPr>
          <a:xfrm>
            <a:off x="889289" y="4038506"/>
            <a:ext cx="170287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2] </a:t>
            </a:r>
            <a:r>
              <a:rPr lang="en-US" sz="2400" b="1" dirty="0"/>
              <a:t>Facade: Deep Contextual Anomaly Detection for Insider Threats (2024)</a:t>
            </a:r>
          </a:p>
          <a:p>
            <a:pPr lvl="1"/>
            <a:r>
              <a:rPr lang="en-US" sz="2400" dirty="0"/>
              <a:t>This system (used at Google) detects insider threats by analyzing </a:t>
            </a:r>
            <a:r>
              <a:rPr lang="en-US" sz="2400" b="1" dirty="0"/>
              <a:t>user actions along with context (who, what, when, why)</a:t>
            </a:r>
            <a:r>
              <a:rPr lang="en-US" sz="2400" dirty="0"/>
              <a:t>. It achieves extremely low false positives using deep learning and contextual modeling. ( </a:t>
            </a:r>
            <a:r>
              <a:rPr lang="en-IN" sz="2400" dirty="0">
                <a:hlinkClick r:id="rId8"/>
              </a:rPr>
              <a:t>https://arxiv.org/abs/2505.03796</a:t>
            </a:r>
            <a:r>
              <a:rPr lang="en-IN" sz="2400" dirty="0"/>
              <a:t>) </a:t>
            </a:r>
          </a:p>
          <a:p>
            <a:endParaRPr lang="en-IN" sz="2400" dirty="0"/>
          </a:p>
          <a:p>
            <a:r>
              <a:rPr lang="en-US" sz="2400" b="1" dirty="0"/>
              <a:t>3] Insider Threat Detection using GCN + Bi-LSTM (2025)</a:t>
            </a:r>
          </a:p>
          <a:p>
            <a:pPr lvl="1"/>
            <a:r>
              <a:rPr lang="en-US" sz="2400" dirty="0"/>
              <a:t>This paper combines </a:t>
            </a:r>
            <a:r>
              <a:rPr lang="en-US" sz="2400" b="1" dirty="0"/>
              <a:t>Graph Neural Networks (GNN)</a:t>
            </a:r>
            <a:r>
              <a:rPr lang="en-US" sz="2400" dirty="0"/>
              <a:t> with </a:t>
            </a:r>
            <a:r>
              <a:rPr lang="en-US" sz="2400" b="1" dirty="0"/>
              <a:t>temporal models (LSTM)</a:t>
            </a:r>
            <a:r>
              <a:rPr lang="en-US" sz="2400" dirty="0"/>
              <a:t> to detect insider threats. It models both relationships between users and time-based behavior patterns for highly accurate detection. ( </a:t>
            </a:r>
            <a:r>
              <a:rPr lang="en-US" sz="2400" dirty="0">
                <a:hlinkClick r:id="rId9"/>
              </a:rPr>
              <a:t>https://ieeexplore.ieee.org/abstract/document/11311570/</a:t>
            </a:r>
            <a:r>
              <a:rPr lang="en-US" sz="2400" dirty="0"/>
              <a:t>)</a:t>
            </a:r>
            <a:r>
              <a:rPr lang="en-IN" sz="2400" b="1" dirty="0"/>
              <a:t> </a:t>
            </a:r>
            <a:endParaRPr lang="en-US" sz="2400" b="1" dirty="0"/>
          </a:p>
          <a:p>
            <a:pPr lvl="1"/>
            <a:endParaRPr 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EC07B6-878F-B88B-CB4F-07335A05FD44}"/>
              </a:ext>
            </a:extLst>
          </p:cNvPr>
          <p:cNvSpPr txBox="1"/>
          <p:nvPr/>
        </p:nvSpPr>
        <p:spPr>
          <a:xfrm>
            <a:off x="880696" y="7200900"/>
            <a:ext cx="1672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4]</a:t>
            </a:r>
            <a:r>
              <a:rPr lang="en-US" sz="2400" dirty="0"/>
              <a:t> </a:t>
            </a:r>
            <a:r>
              <a:rPr lang="en-US" sz="2400" b="1" dirty="0"/>
              <a:t>Explainable AI in Insider Financial Fraud Detection (2026)</a:t>
            </a:r>
          </a:p>
          <a:p>
            <a:pPr lvl="1"/>
            <a:r>
              <a:rPr lang="en-US" sz="2400" dirty="0"/>
              <a:t>This paper explains how </a:t>
            </a:r>
            <a:r>
              <a:rPr lang="en-US" sz="2400" b="1" dirty="0"/>
              <a:t>Explainable AI (SHAP, LIME)</a:t>
            </a:r>
            <a:r>
              <a:rPr lang="en-US" sz="2400" dirty="0"/>
              <a:t> improves fraud detection systems by making them transparent and trustworthy. It also compares deep learning models like LSTM, CNN, and GNN.  (</a:t>
            </a:r>
            <a:r>
              <a:rPr lang="en-IN" sz="2400" dirty="0">
                <a:hlinkClick r:id="rId10"/>
              </a:rPr>
              <a:t>https://dl.acm.org/doi/full/10.1145/3794859)</a:t>
            </a:r>
            <a:r>
              <a:rPr lang="en-IN" sz="2400" dirty="0"/>
              <a:t> </a:t>
            </a:r>
          </a:p>
          <a:p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092037-61AA-00BC-8382-5C108D6636AD}"/>
              </a:ext>
            </a:extLst>
          </p:cNvPr>
          <p:cNvSpPr txBox="1"/>
          <p:nvPr/>
        </p:nvSpPr>
        <p:spPr>
          <a:xfrm>
            <a:off x="685800" y="8770560"/>
            <a:ext cx="162306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Summary for the above Problem Statement :-</a:t>
            </a:r>
          </a:p>
          <a:p>
            <a:r>
              <a:rPr lang="en-US" sz="2600" b="1" dirty="0">
                <a:hlinkClick r:id="rId11"/>
              </a:rPr>
              <a:t>https://drive.google.com/file/d/13rmvefZ6oKO9IqYP-g06BAGWaLo4k-2q/view?usp=sharing</a:t>
            </a:r>
            <a:endParaRPr lang="en-US" sz="2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828</Words>
  <Application>Microsoft Office PowerPoint</Application>
  <PresentationFormat>Custom</PresentationFormat>
  <Paragraphs>136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Barlow Bold</vt:lpstr>
      <vt:lpstr>quote-cjk-patch</vt:lpstr>
      <vt:lpstr>League Spartan</vt:lpstr>
      <vt:lpstr>Montserrat</vt:lpstr>
      <vt:lpstr>Montserrat Bold</vt:lpstr>
      <vt:lpstr>TT Interphases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TITLE</dc:title>
  <dc:creator>Abhay k. Roy</dc:creator>
  <cp:lastModifiedBy>Aditya Thakare</cp:lastModifiedBy>
  <cp:revision>12</cp:revision>
  <dcterms:created xsi:type="dcterms:W3CDTF">2006-08-16T00:00:00Z</dcterms:created>
  <dcterms:modified xsi:type="dcterms:W3CDTF">2026-03-22T10:54:06Z</dcterms:modified>
  <dc:identifier>DAHCOoBRAO4</dc:identifier>
</cp:coreProperties>
</file>