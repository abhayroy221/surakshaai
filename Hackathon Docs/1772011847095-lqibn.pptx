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League Spartan" panose="020B0604020202020204" charset="0"/>
      <p:regular r:id="rId12"/>
      <p:bold r:id="rId13"/>
    </p:embeddedFont>
    <p:embeddedFont>
      <p:font typeface="Montserrat" panose="00000500000000000000" pitchFamily="2" charset="0"/>
      <p:regular r:id="rId14"/>
      <p:bold r:id="rId15"/>
    </p:embeddedFont>
    <p:embeddedFont>
      <p:font typeface="Montserrat Bold" panose="00000800000000000000" charset="0"/>
      <p:regular r:id="rId16"/>
      <p:bold r:id="rId17"/>
    </p:embeddedFont>
    <p:embeddedFont>
      <p:font typeface="TT Interphases Mono"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48" autoAdjust="0"/>
  </p:normalViewPr>
  <p:slideViewPr>
    <p:cSldViewPr>
      <p:cViewPr varScale="1">
        <p:scale>
          <a:sx n="52" d="100"/>
          <a:sy n="52" d="100"/>
        </p:scale>
        <p:origin x="85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sp>
        <p:nvSpPr>
          <p:cNvPr id="2" name="Freeform 2"/>
          <p:cNvSpPr/>
          <p:nvPr/>
        </p:nvSpPr>
        <p:spPr>
          <a:xfrm>
            <a:off x="4378405" y="3323336"/>
            <a:ext cx="9231747" cy="4935326"/>
          </a:xfrm>
          <a:custGeom>
            <a:avLst/>
            <a:gdLst/>
            <a:ahLst/>
            <a:cxnLst/>
            <a:rect l="l" t="t" r="r" b="b"/>
            <a:pathLst>
              <a:path w="9231747" h="4935326">
                <a:moveTo>
                  <a:pt x="0" y="0"/>
                </a:moveTo>
                <a:lnTo>
                  <a:pt x="9231746" y="0"/>
                </a:lnTo>
                <a:lnTo>
                  <a:pt x="9231746" y="4935326"/>
                </a:lnTo>
                <a:lnTo>
                  <a:pt x="0" y="4935326"/>
                </a:lnTo>
                <a:lnTo>
                  <a:pt x="0" y="0"/>
                </a:lnTo>
                <a:close/>
              </a:path>
            </a:pathLst>
          </a:custGeom>
          <a:blipFill>
            <a:blip r:embed="rId2"/>
            <a:stretch>
              <a:fillRect t="-42727" b="-44327"/>
            </a:stretch>
          </a:blipFill>
        </p:spPr>
      </p:sp>
      <p:sp>
        <p:nvSpPr>
          <p:cNvPr id="3" name="Freeform 3"/>
          <p:cNvSpPr/>
          <p:nvPr/>
        </p:nvSpPr>
        <p:spPr>
          <a:xfrm>
            <a:off x="5130164" y="1392478"/>
            <a:ext cx="8027673" cy="1630802"/>
          </a:xfrm>
          <a:custGeom>
            <a:avLst/>
            <a:gdLst/>
            <a:ahLst/>
            <a:cxnLst/>
            <a:rect l="l" t="t" r="r" b="b"/>
            <a:pathLst>
              <a:path w="8027673" h="1630802">
                <a:moveTo>
                  <a:pt x="0" y="0"/>
                </a:moveTo>
                <a:lnTo>
                  <a:pt x="8027672" y="0"/>
                </a:lnTo>
                <a:lnTo>
                  <a:pt x="8027672" y="1630802"/>
                </a:lnTo>
                <a:lnTo>
                  <a:pt x="0" y="1630802"/>
                </a:lnTo>
                <a:lnTo>
                  <a:pt x="0" y="0"/>
                </a:lnTo>
                <a:close/>
              </a:path>
            </a:pathLst>
          </a:custGeom>
          <a:blipFill>
            <a:blip r:embed="rId3"/>
            <a:stretch>
              <a:fillRect t="-9685" b="-9685"/>
            </a:stretch>
          </a:blipFill>
        </p:spPr>
      </p:sp>
      <p:sp>
        <p:nvSpPr>
          <p:cNvPr id="4" name="Freeform 4"/>
          <p:cNvSpPr/>
          <p:nvPr/>
        </p:nvSpPr>
        <p:spPr>
          <a:xfrm>
            <a:off x="7439333" y="8524710"/>
            <a:ext cx="3409334" cy="1114590"/>
          </a:xfrm>
          <a:custGeom>
            <a:avLst/>
            <a:gdLst/>
            <a:ahLst/>
            <a:cxnLst/>
            <a:rect l="l" t="t" r="r" b="b"/>
            <a:pathLst>
              <a:path w="3409334" h="1114590">
                <a:moveTo>
                  <a:pt x="0" y="0"/>
                </a:moveTo>
                <a:lnTo>
                  <a:pt x="3409334" y="0"/>
                </a:lnTo>
                <a:lnTo>
                  <a:pt x="3409334" y="1114589"/>
                </a:lnTo>
                <a:lnTo>
                  <a:pt x="0" y="11145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6"/>
            <a:stretch>
              <a:fillRect/>
            </a:stretch>
          </a:blipFill>
        </p:spPr>
      </p:sp>
      <p:sp>
        <p:nvSpPr>
          <p:cNvPr id="6" name="Freeform 6"/>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sp>
        <p:nvSpPr>
          <p:cNvPr id="7" name="TextBox 7"/>
          <p:cNvSpPr txBox="1"/>
          <p:nvPr/>
        </p:nvSpPr>
        <p:spPr>
          <a:xfrm>
            <a:off x="3304392" y="990600"/>
            <a:ext cx="12023378" cy="294380"/>
          </a:xfrm>
          <a:prstGeom prst="rect">
            <a:avLst/>
          </a:prstGeom>
        </p:spPr>
        <p:txBody>
          <a:bodyPr lIns="0" tIns="0" rIns="0" bIns="0" rtlCol="0" anchor="t">
            <a:spAutoFit/>
          </a:bodyPr>
          <a:lstStyle/>
          <a:p>
            <a:pPr algn="ctr">
              <a:lnSpc>
                <a:spcPts val="2456"/>
              </a:lnSpc>
            </a:pPr>
            <a:r>
              <a:rPr lang="en-US" sz="1754" b="1">
                <a:solidFill>
                  <a:srgbClr val="000000"/>
                </a:solidFill>
                <a:latin typeface="Montserrat Bold"/>
                <a:ea typeface="Montserrat Bold"/>
                <a:cs typeface="Montserrat Bold"/>
                <a:sym typeface="Montserrat Bold"/>
              </a:rPr>
              <a:t>(An Initiative of Government of India, Ministry of Finance , Department of Financial Services)</a:t>
            </a:r>
          </a:p>
        </p:txBody>
      </p:sp>
      <p:sp>
        <p:nvSpPr>
          <p:cNvPr id="8" name="TextBox 8"/>
          <p:cNvSpPr txBox="1"/>
          <p:nvPr/>
        </p:nvSpPr>
        <p:spPr>
          <a:xfrm>
            <a:off x="2058924" y="339398"/>
            <a:ext cx="14514314" cy="771525"/>
          </a:xfrm>
          <a:prstGeom prst="rect">
            <a:avLst/>
          </a:prstGeom>
        </p:spPr>
        <p:txBody>
          <a:bodyPr lIns="0" tIns="0" rIns="0" bIns="0" rtlCol="0" anchor="t">
            <a:spAutoFit/>
          </a:bodyPr>
          <a:lstStyle/>
          <a:p>
            <a:pPr algn="ctr">
              <a:lnSpc>
                <a:spcPts val="6299"/>
              </a:lnSpc>
            </a:pPr>
            <a:r>
              <a:rPr lang="en-US" sz="4500" dirty="0">
                <a:solidFill>
                  <a:srgbClr val="E92A2D"/>
                </a:solidFill>
                <a:latin typeface="League Spartan"/>
                <a:ea typeface="League Spartan"/>
                <a:cs typeface="League Spartan"/>
                <a:sym typeface="League Spartan"/>
              </a:rPr>
              <a:t>PSBs Hackathon Series 2026</a:t>
            </a:r>
          </a:p>
        </p:txBody>
      </p:sp>
      <p:sp>
        <p:nvSpPr>
          <p:cNvPr id="9" name="TextBox 9"/>
          <p:cNvSpPr txBox="1"/>
          <p:nvPr/>
        </p:nvSpPr>
        <p:spPr>
          <a:xfrm>
            <a:off x="7712906" y="2894674"/>
            <a:ext cx="2862189" cy="428662"/>
          </a:xfrm>
          <a:prstGeom prst="rect">
            <a:avLst/>
          </a:prstGeom>
        </p:spPr>
        <p:txBody>
          <a:bodyPr lIns="0" tIns="0" rIns="0" bIns="0" rtlCol="0" anchor="t">
            <a:spAutoFit/>
          </a:bodyPr>
          <a:lstStyle/>
          <a:p>
            <a:pPr algn="ctr">
              <a:lnSpc>
                <a:spcPts val="3412"/>
              </a:lnSpc>
            </a:pPr>
            <a:r>
              <a:rPr lang="en-US" sz="2437">
                <a:solidFill>
                  <a:srgbClr val="000000"/>
                </a:solidFill>
                <a:latin typeface="TT Interphases Mono"/>
                <a:ea typeface="TT Interphases Mono"/>
                <a:cs typeface="TT Interphases Mono"/>
                <a:sym typeface="TT Interphases Mono"/>
              </a:rPr>
              <a:t>PRESENTS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697181"/>
            <a:chOff x="0" y="0"/>
            <a:chExt cx="4816593" cy="446994"/>
          </a:xfrm>
        </p:grpSpPr>
        <p:sp>
          <p:nvSpPr>
            <p:cNvPr id="3" name="Freeform 3"/>
            <p:cNvSpPr/>
            <p:nvPr/>
          </p:nvSpPr>
          <p:spPr>
            <a:xfrm>
              <a:off x="0" y="0"/>
              <a:ext cx="4816592" cy="446994"/>
            </a:xfrm>
            <a:custGeom>
              <a:avLst/>
              <a:gdLst/>
              <a:ahLst/>
              <a:cxnLst/>
              <a:rect l="l" t="t" r="r" b="b"/>
              <a:pathLst>
                <a:path w="4816592" h="446994">
                  <a:moveTo>
                    <a:pt x="0" y="0"/>
                  </a:moveTo>
                  <a:lnTo>
                    <a:pt x="4816592" y="0"/>
                  </a:lnTo>
                  <a:lnTo>
                    <a:pt x="4816592" y="446994"/>
                  </a:lnTo>
                  <a:lnTo>
                    <a:pt x="0" y="446994"/>
                  </a:lnTo>
                  <a:close/>
                </a:path>
              </a:pathLst>
            </a:custGeom>
            <a:solidFill>
              <a:srgbClr val="FFFFFF"/>
            </a:solidFill>
          </p:spPr>
        </p:sp>
        <p:sp>
          <p:nvSpPr>
            <p:cNvPr id="4" name="TextBox 4"/>
            <p:cNvSpPr txBox="1"/>
            <p:nvPr/>
          </p:nvSpPr>
          <p:spPr>
            <a:xfrm>
              <a:off x="0" y="-38100"/>
              <a:ext cx="4816593" cy="485094"/>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6662574" y="122606"/>
            <a:ext cx="3497653" cy="1540119"/>
          </a:xfrm>
          <a:custGeom>
            <a:avLst/>
            <a:gdLst/>
            <a:ahLst/>
            <a:cxnLst/>
            <a:rect l="l" t="t" r="r" b="b"/>
            <a:pathLst>
              <a:path w="3497653" h="1540119">
                <a:moveTo>
                  <a:pt x="0" y="0"/>
                </a:moveTo>
                <a:lnTo>
                  <a:pt x="3497653" y="0"/>
                </a:lnTo>
                <a:lnTo>
                  <a:pt x="3497653" y="1540119"/>
                </a:lnTo>
                <a:lnTo>
                  <a:pt x="0" y="1540119"/>
                </a:lnTo>
                <a:lnTo>
                  <a:pt x="0" y="0"/>
                </a:lnTo>
                <a:close/>
              </a:path>
            </a:pathLst>
          </a:custGeom>
          <a:blipFill>
            <a:blip r:embed="rId2"/>
            <a:stretch>
              <a:fillRect l="-26230" t="-89762" r="-26367" b="-156792"/>
            </a:stretch>
          </a:blipFill>
        </p:spPr>
      </p:sp>
      <p:grpSp>
        <p:nvGrpSpPr>
          <p:cNvPr id="6" name="Group 6"/>
          <p:cNvGrpSpPr/>
          <p:nvPr/>
        </p:nvGrpSpPr>
        <p:grpSpPr>
          <a:xfrm>
            <a:off x="10969852" y="588904"/>
            <a:ext cx="5022437" cy="749179"/>
            <a:chOff x="0" y="0"/>
            <a:chExt cx="6696583" cy="998906"/>
          </a:xfrm>
        </p:grpSpPr>
        <p:sp>
          <p:nvSpPr>
            <p:cNvPr id="7" name="Freeform 7" descr="A red blue and white logo  Description automatically generated"/>
            <p:cNvSpPr/>
            <p:nvPr/>
          </p:nvSpPr>
          <p:spPr>
            <a:xfrm>
              <a:off x="0" y="0"/>
              <a:ext cx="6696583" cy="998855"/>
            </a:xfrm>
            <a:custGeom>
              <a:avLst/>
              <a:gdLst/>
              <a:ahLst/>
              <a:cxnLst/>
              <a:rect l="l" t="t" r="r" b="b"/>
              <a:pathLst>
                <a:path w="6696583" h="998855">
                  <a:moveTo>
                    <a:pt x="0" y="0"/>
                  </a:moveTo>
                  <a:lnTo>
                    <a:pt x="6696583" y="0"/>
                  </a:lnTo>
                  <a:lnTo>
                    <a:pt x="6696583" y="998855"/>
                  </a:lnTo>
                  <a:lnTo>
                    <a:pt x="0" y="998855"/>
                  </a:lnTo>
                  <a:lnTo>
                    <a:pt x="0" y="0"/>
                  </a:lnTo>
                  <a:close/>
                </a:path>
              </a:pathLst>
            </a:custGeom>
            <a:blipFill>
              <a:blip r:embed="rId3"/>
              <a:stretch>
                <a:fillRect b="-5"/>
              </a:stretch>
            </a:blipFill>
          </p:spPr>
        </p:sp>
      </p:grpSp>
      <p:sp>
        <p:nvSpPr>
          <p:cNvPr id="8" name="Freeform 8"/>
          <p:cNvSpPr/>
          <p:nvPr/>
        </p:nvSpPr>
        <p:spPr>
          <a:xfrm>
            <a:off x="3163313" y="523697"/>
            <a:ext cx="2690517" cy="879592"/>
          </a:xfrm>
          <a:custGeom>
            <a:avLst/>
            <a:gdLst/>
            <a:ahLst/>
            <a:cxnLst/>
            <a:rect l="l" t="t" r="r" b="b"/>
            <a:pathLst>
              <a:path w="2690517" h="879592">
                <a:moveTo>
                  <a:pt x="0" y="0"/>
                </a:moveTo>
                <a:lnTo>
                  <a:pt x="2690518" y="0"/>
                </a:lnTo>
                <a:lnTo>
                  <a:pt x="2690518" y="879593"/>
                </a:lnTo>
                <a:lnTo>
                  <a:pt x="0" y="87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380801" y="3262601"/>
            <a:ext cx="17065421" cy="6038850"/>
          </a:xfrm>
          <a:prstGeom prst="rect">
            <a:avLst/>
          </a:prstGeom>
        </p:spPr>
        <p:txBody>
          <a:bodyPr lIns="0" tIns="0" rIns="0" bIns="0" rtlCol="0" anchor="t">
            <a:spAutoFit/>
          </a:bodyPr>
          <a:lstStyle/>
          <a:p>
            <a:pPr algn="l">
              <a:lnSpc>
                <a:spcPts val="2879"/>
              </a:lnSpc>
            </a:pPr>
            <a:r>
              <a:rPr lang="en-US" sz="2400">
                <a:solidFill>
                  <a:srgbClr val="C00000"/>
                </a:solidFill>
                <a:latin typeface="Montserrat"/>
                <a:ea typeface="Montserrat"/>
                <a:cs typeface="Montserrat"/>
                <a:sym typeface="Montserrat"/>
              </a:rPr>
              <a:t>These are the guidelines for idea submission. Please ensure the guidelines are followed. </a:t>
            </a:r>
          </a:p>
          <a:p>
            <a:pPr algn="l">
              <a:lnSpc>
                <a:spcPts val="2879"/>
              </a:lnSpc>
            </a:pPr>
            <a:r>
              <a:rPr lang="en-US" sz="2400">
                <a:solidFill>
                  <a:srgbClr val="C00000"/>
                </a:solidFill>
                <a:latin typeface="Montserrat"/>
                <a:ea typeface="Montserrat"/>
                <a:cs typeface="Montserrat"/>
                <a:sym typeface="Montserrat"/>
              </a:rPr>
              <a:t>(Delete this slide during final submission)</a:t>
            </a:r>
          </a:p>
          <a:p>
            <a:pPr algn="l">
              <a:lnSpc>
                <a:spcPts val="3240"/>
              </a:lnSpc>
            </a:pPr>
            <a:endParaRPr lang="en-US" sz="2400">
              <a:solidFill>
                <a:srgbClr val="C00000"/>
              </a:solidFill>
              <a:latin typeface="Montserrat"/>
              <a:ea typeface="Montserrat"/>
              <a:cs typeface="Montserrat"/>
              <a:sym typeface="Montserrat"/>
            </a:endParaRPr>
          </a:p>
          <a:p>
            <a:pPr marL="488632" lvl="1" indent="-244316" algn="l">
              <a:lnSpc>
                <a:spcPts val="3240"/>
              </a:lnSpc>
              <a:buAutoNum type="arabicPeriod"/>
            </a:pPr>
            <a:r>
              <a:rPr lang="en-US" sz="2700">
                <a:solidFill>
                  <a:srgbClr val="000000"/>
                </a:solidFill>
                <a:latin typeface="Montserrat"/>
                <a:ea typeface="Montserrat"/>
                <a:cs typeface="Montserrat"/>
                <a:sym typeface="Montserrat"/>
              </a:rPr>
              <a:t>Only the team leader is required to submit the idea submission. </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The template is to be followed as is, only this slide has to be deleted before submission.</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The solution must not exceed 9 slides, i.e, 1 Header slide + 1 Team Details slide + 7 content slides.</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The slide titles must be retained as it is, and their positions should not be changed.</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The headings for the submission can not be changed. </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The content can be structured around the heading in any manner. </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There is no restriction with regards to the fonts, as long as it is legible. </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For flowcharts and other diagrams, other fonts can be utilised.</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One page summary is compulsory (as required in research and references slide)</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Once the idea PPT (in PDF Format) is submitted, no resubmission is possible (under any circumstances). </a:t>
            </a:r>
          </a:p>
          <a:p>
            <a:pPr marL="488632" lvl="1" indent="-244316" algn="l">
              <a:lnSpc>
                <a:spcPts val="3240"/>
              </a:lnSpc>
              <a:buAutoNum type="arabicPeriod"/>
            </a:pPr>
            <a:r>
              <a:rPr lang="en-US" sz="2700">
                <a:solidFill>
                  <a:srgbClr val="000000"/>
                </a:solidFill>
                <a:latin typeface="Montserrat"/>
                <a:ea typeface="Montserrat"/>
                <a:cs typeface="Montserrat"/>
                <a:sym typeface="Montserrat"/>
              </a:rPr>
              <a:t>Incorporate flowcharts and diagrams when required within the given space.</a:t>
            </a:r>
          </a:p>
        </p:txBody>
      </p:sp>
      <p:sp>
        <p:nvSpPr>
          <p:cNvPr id="10" name="TextBox 10"/>
          <p:cNvSpPr txBox="1"/>
          <p:nvPr/>
        </p:nvSpPr>
        <p:spPr>
          <a:xfrm>
            <a:off x="4248203" y="1974068"/>
            <a:ext cx="9791593" cy="819150"/>
          </a:xfrm>
          <a:prstGeom prst="rect">
            <a:avLst/>
          </a:prstGeom>
        </p:spPr>
        <p:txBody>
          <a:bodyPr lIns="0" tIns="0" rIns="0" bIns="0" rtlCol="0" anchor="t">
            <a:spAutoFit/>
          </a:bodyPr>
          <a:lstStyle/>
          <a:p>
            <a:pPr algn="ctr">
              <a:lnSpc>
                <a:spcPts val="6480"/>
              </a:lnSpc>
            </a:pPr>
            <a:r>
              <a:rPr lang="en-US" sz="5400" u="sng">
                <a:solidFill>
                  <a:srgbClr val="4472C4"/>
                </a:solidFill>
                <a:latin typeface="Montserrat"/>
                <a:ea typeface="Montserrat"/>
                <a:cs typeface="Montserrat"/>
                <a:sym typeface="Montserrat"/>
              </a:rPr>
              <a:t>SUBMISSION GUIDELINES</a:t>
            </a:r>
          </a:p>
        </p:txBody>
      </p:sp>
      <p:sp>
        <p:nvSpPr>
          <p:cNvPr id="11" name="Freeform 11"/>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6"/>
            <a:stretch>
              <a:fillRect/>
            </a:stretch>
          </a:blipFill>
        </p:spPr>
      </p:sp>
      <p:sp>
        <p:nvSpPr>
          <p:cNvPr id="12" name="Freeform 12"/>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grpSp>
        <p:nvGrpSpPr>
          <p:cNvPr id="3" name="Group 3"/>
          <p:cNvGrpSpPr/>
          <p:nvPr/>
        </p:nvGrpSpPr>
        <p:grpSpPr>
          <a:xfrm>
            <a:off x="0" y="0"/>
            <a:ext cx="18288000" cy="1697181"/>
            <a:chOff x="0" y="0"/>
            <a:chExt cx="4816593" cy="446994"/>
          </a:xfrm>
        </p:grpSpPr>
        <p:sp>
          <p:nvSpPr>
            <p:cNvPr id="4" name="Freeform 4"/>
            <p:cNvSpPr/>
            <p:nvPr/>
          </p:nvSpPr>
          <p:spPr>
            <a:xfrm>
              <a:off x="0" y="0"/>
              <a:ext cx="4816592" cy="446994"/>
            </a:xfrm>
            <a:custGeom>
              <a:avLst/>
              <a:gdLst/>
              <a:ahLst/>
              <a:cxnLst/>
              <a:rect l="l" t="t" r="r" b="b"/>
              <a:pathLst>
                <a:path w="4816592" h="446994">
                  <a:moveTo>
                    <a:pt x="0" y="0"/>
                  </a:moveTo>
                  <a:lnTo>
                    <a:pt x="4816592" y="0"/>
                  </a:lnTo>
                  <a:lnTo>
                    <a:pt x="4816592" y="446994"/>
                  </a:lnTo>
                  <a:lnTo>
                    <a:pt x="0" y="446994"/>
                  </a:lnTo>
                  <a:close/>
                </a:path>
              </a:pathLst>
            </a:custGeom>
            <a:solidFill>
              <a:srgbClr val="FFFFFF"/>
            </a:solidFill>
          </p:spPr>
        </p:sp>
        <p:sp>
          <p:nvSpPr>
            <p:cNvPr id="5" name="TextBox 5"/>
            <p:cNvSpPr txBox="1"/>
            <p:nvPr/>
          </p:nvSpPr>
          <p:spPr>
            <a:xfrm>
              <a:off x="0" y="-38100"/>
              <a:ext cx="4816593" cy="485094"/>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6662574" y="122606"/>
            <a:ext cx="3497653" cy="1540119"/>
          </a:xfrm>
          <a:custGeom>
            <a:avLst/>
            <a:gdLst/>
            <a:ahLst/>
            <a:cxnLst/>
            <a:rect l="l" t="t" r="r" b="b"/>
            <a:pathLst>
              <a:path w="3497653" h="1540119">
                <a:moveTo>
                  <a:pt x="0" y="0"/>
                </a:moveTo>
                <a:lnTo>
                  <a:pt x="3497653" y="0"/>
                </a:lnTo>
                <a:lnTo>
                  <a:pt x="3497653" y="1540119"/>
                </a:lnTo>
                <a:lnTo>
                  <a:pt x="0" y="1540119"/>
                </a:lnTo>
                <a:lnTo>
                  <a:pt x="0" y="0"/>
                </a:lnTo>
                <a:close/>
              </a:path>
            </a:pathLst>
          </a:custGeom>
          <a:blipFill>
            <a:blip r:embed="rId2"/>
            <a:stretch>
              <a:fillRect l="-26230" t="-89762" r="-26367" b="-156792"/>
            </a:stretch>
          </a:blipFill>
        </p:spPr>
      </p:sp>
      <p:grpSp>
        <p:nvGrpSpPr>
          <p:cNvPr id="7" name="Group 7"/>
          <p:cNvGrpSpPr/>
          <p:nvPr/>
        </p:nvGrpSpPr>
        <p:grpSpPr>
          <a:xfrm>
            <a:off x="10969852" y="588904"/>
            <a:ext cx="5022437" cy="749179"/>
            <a:chOff x="0" y="0"/>
            <a:chExt cx="6696583" cy="998906"/>
          </a:xfrm>
        </p:grpSpPr>
        <p:sp>
          <p:nvSpPr>
            <p:cNvPr id="8" name="Freeform 8" descr="A red blue and white logo  Description automatically generated"/>
            <p:cNvSpPr/>
            <p:nvPr/>
          </p:nvSpPr>
          <p:spPr>
            <a:xfrm>
              <a:off x="0" y="0"/>
              <a:ext cx="6696583" cy="998855"/>
            </a:xfrm>
            <a:custGeom>
              <a:avLst/>
              <a:gdLst/>
              <a:ahLst/>
              <a:cxnLst/>
              <a:rect l="l" t="t" r="r" b="b"/>
              <a:pathLst>
                <a:path w="6696583" h="998855">
                  <a:moveTo>
                    <a:pt x="0" y="0"/>
                  </a:moveTo>
                  <a:lnTo>
                    <a:pt x="6696583" y="0"/>
                  </a:lnTo>
                  <a:lnTo>
                    <a:pt x="6696583" y="998855"/>
                  </a:lnTo>
                  <a:lnTo>
                    <a:pt x="0" y="998855"/>
                  </a:lnTo>
                  <a:lnTo>
                    <a:pt x="0" y="0"/>
                  </a:lnTo>
                  <a:close/>
                </a:path>
              </a:pathLst>
            </a:custGeom>
            <a:blipFill>
              <a:blip r:embed="rId3"/>
              <a:stretch>
                <a:fillRect b="-5"/>
              </a:stretch>
            </a:blipFill>
          </p:spPr>
        </p:sp>
      </p:grpSp>
      <p:sp>
        <p:nvSpPr>
          <p:cNvPr id="9" name="Freeform 9"/>
          <p:cNvSpPr/>
          <p:nvPr/>
        </p:nvSpPr>
        <p:spPr>
          <a:xfrm>
            <a:off x="3163313" y="523697"/>
            <a:ext cx="2690517" cy="879592"/>
          </a:xfrm>
          <a:custGeom>
            <a:avLst/>
            <a:gdLst/>
            <a:ahLst/>
            <a:cxnLst/>
            <a:rect l="l" t="t" r="r" b="b"/>
            <a:pathLst>
              <a:path w="2690517" h="879592">
                <a:moveTo>
                  <a:pt x="0" y="0"/>
                </a:moveTo>
                <a:lnTo>
                  <a:pt x="2690518" y="0"/>
                </a:lnTo>
                <a:lnTo>
                  <a:pt x="2690518" y="879593"/>
                </a:lnTo>
                <a:lnTo>
                  <a:pt x="0" y="87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6"/>
            <a:stretch>
              <a:fillRect/>
            </a:stretch>
          </a:blipFill>
        </p:spPr>
      </p:sp>
      <p:sp>
        <p:nvSpPr>
          <p:cNvPr id="11" name="TextBox 11"/>
          <p:cNvSpPr txBox="1"/>
          <p:nvPr/>
        </p:nvSpPr>
        <p:spPr>
          <a:xfrm>
            <a:off x="1326561" y="1974068"/>
            <a:ext cx="15634878" cy="819150"/>
          </a:xfrm>
          <a:prstGeom prst="rect">
            <a:avLst/>
          </a:prstGeom>
        </p:spPr>
        <p:txBody>
          <a:bodyPr lIns="0" tIns="0" rIns="0" bIns="0" rtlCol="0" anchor="t">
            <a:spAutoFit/>
          </a:bodyPr>
          <a:lstStyle/>
          <a:p>
            <a:pPr algn="ctr">
              <a:lnSpc>
                <a:spcPts val="6480"/>
              </a:lnSpc>
            </a:pPr>
            <a:r>
              <a:rPr lang="en-US" sz="5400" u="sng">
                <a:solidFill>
                  <a:srgbClr val="4472C4"/>
                </a:solidFill>
                <a:latin typeface="Montserrat"/>
                <a:ea typeface="Montserrat"/>
                <a:cs typeface="Montserrat"/>
                <a:sym typeface="Montserrat"/>
              </a:rPr>
              <a:t>PROBLEM STATEMENT &amp; TEAM DETAILS</a:t>
            </a:r>
          </a:p>
        </p:txBody>
      </p:sp>
      <p:sp>
        <p:nvSpPr>
          <p:cNvPr id="12" name="Freeform 12"/>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graphicFrame>
        <p:nvGraphicFramePr>
          <p:cNvPr id="13" name="Table 12">
            <a:extLst>
              <a:ext uri="{FF2B5EF4-FFF2-40B4-BE49-F238E27FC236}">
                <a16:creationId xmlns:a16="http://schemas.microsoft.com/office/drawing/2014/main" id="{176C167A-4B7F-91D2-994F-AE9A302569F6}"/>
              </a:ext>
            </a:extLst>
          </p:cNvPr>
          <p:cNvGraphicFramePr>
            <a:graphicFrameLocks noGrp="1"/>
          </p:cNvGraphicFramePr>
          <p:nvPr>
            <p:extLst>
              <p:ext uri="{D42A27DB-BD31-4B8C-83A1-F6EECF244321}">
                <p14:modId xmlns:p14="http://schemas.microsoft.com/office/powerpoint/2010/main" val="2209284275"/>
              </p:ext>
            </p:extLst>
          </p:nvPr>
        </p:nvGraphicFramePr>
        <p:xfrm>
          <a:off x="626184" y="3238500"/>
          <a:ext cx="17035628" cy="6115520"/>
        </p:xfrm>
        <a:graphic>
          <a:graphicData uri="http://schemas.openxmlformats.org/drawingml/2006/table">
            <a:tbl>
              <a:tblPr firstRow="1" bandRow="1">
                <a:tableStyleId>{5C22544A-7EE6-4342-B048-85BDC9FD1C3A}</a:tableStyleId>
              </a:tblPr>
              <a:tblGrid>
                <a:gridCol w="2498016">
                  <a:extLst>
                    <a:ext uri="{9D8B030D-6E8A-4147-A177-3AD203B41FA5}">
                      <a16:colId xmlns:a16="http://schemas.microsoft.com/office/drawing/2014/main" val="1813726928"/>
                    </a:ext>
                  </a:extLst>
                </a:gridCol>
                <a:gridCol w="6019798">
                  <a:extLst>
                    <a:ext uri="{9D8B030D-6E8A-4147-A177-3AD203B41FA5}">
                      <a16:colId xmlns:a16="http://schemas.microsoft.com/office/drawing/2014/main" val="75420284"/>
                    </a:ext>
                  </a:extLst>
                </a:gridCol>
                <a:gridCol w="2667002">
                  <a:extLst>
                    <a:ext uri="{9D8B030D-6E8A-4147-A177-3AD203B41FA5}">
                      <a16:colId xmlns:a16="http://schemas.microsoft.com/office/drawing/2014/main" val="1555674278"/>
                    </a:ext>
                  </a:extLst>
                </a:gridCol>
                <a:gridCol w="5850812">
                  <a:extLst>
                    <a:ext uri="{9D8B030D-6E8A-4147-A177-3AD203B41FA5}">
                      <a16:colId xmlns:a16="http://schemas.microsoft.com/office/drawing/2014/main" val="3234338863"/>
                    </a:ext>
                  </a:extLst>
                </a:gridCol>
              </a:tblGrid>
              <a:tr h="1055464">
                <a:tc gridSpan="2">
                  <a:txBody>
                    <a:bodyPr/>
                    <a:lstStyle/>
                    <a:p>
                      <a:pPr algn="ctr"/>
                      <a:r>
                        <a:rPr lang="en-US" sz="2400" dirty="0"/>
                        <a:t>TEAM NAME</a:t>
                      </a:r>
                    </a:p>
                    <a:p>
                      <a:pPr algn="ctr"/>
                      <a:r>
                        <a:rPr lang="en-US" sz="2400" dirty="0"/>
                        <a:t>(AS SUBMITTED ON PORTAL)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2026"/>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sz="2400" b="0" dirty="0" err="1">
                          <a:solidFill>
                            <a:schemeClr val="tx1"/>
                          </a:solidFill>
                        </a:rPr>
                        <a:t>GenZPT</a:t>
                      </a:r>
                      <a:endParaRPr 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9046431"/>
                  </a:ext>
                </a:extLst>
              </a:tr>
              <a:tr h="1001936">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t>PROBLEM STATEMENT 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sz="2000" dirty="0">
                          <a:solidFill>
                            <a:schemeClr val="tx1"/>
                          </a:solidFill>
                        </a:rPr>
                        <a:t>&lt;Your Problem Statement Title&gt;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6909442"/>
                  </a:ext>
                </a:extLst>
              </a:tr>
              <a:tr h="811624">
                <a:tc>
                  <a:txBody>
                    <a:bodyPr/>
                    <a:lstStyle/>
                    <a:p>
                      <a:pPr algn="ctr"/>
                      <a:endParaRPr lang="en-US" sz="24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2026"/>
                    </a:solidFill>
                  </a:tcPr>
                </a:tc>
                <a:tc>
                  <a:txBody>
                    <a:bodyPr/>
                    <a:lstStyle/>
                    <a:p>
                      <a:pPr algn="ctr"/>
                      <a:r>
                        <a:rPr lang="en-US" sz="2400" b="1" dirty="0">
                          <a:solidFill>
                            <a:schemeClr val="bg1"/>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2026"/>
                    </a:solidFill>
                  </a:tcPr>
                </a:tc>
                <a:tc>
                  <a:txBody>
                    <a:bodyPr/>
                    <a:lstStyle/>
                    <a:p>
                      <a:pPr algn="ctr"/>
                      <a:r>
                        <a:rPr lang="en-US" sz="2400" b="1" dirty="0">
                          <a:solidFill>
                            <a:schemeClr val="bg1"/>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2026"/>
                    </a:solidFill>
                  </a:tcPr>
                </a:tc>
                <a:tc>
                  <a:txBody>
                    <a:bodyPr/>
                    <a:lstStyle/>
                    <a:p>
                      <a:pPr algn="ctr"/>
                      <a:r>
                        <a:rPr lang="en-US" sz="2400" b="1" dirty="0">
                          <a:solidFill>
                            <a:schemeClr val="bg1"/>
                          </a:solidFill>
                        </a:rPr>
                        <a:t>AREA OF EXPERTISE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2026"/>
                    </a:solidFill>
                  </a:tcPr>
                </a:tc>
                <a:extLst>
                  <a:ext uri="{0D108BD9-81ED-4DB2-BD59-A6C34878D82A}">
                    <a16:rowId xmlns:a16="http://schemas.microsoft.com/office/drawing/2014/main" val="3482188233"/>
                  </a:ext>
                </a:extLst>
              </a:tr>
              <a:tr h="811624">
                <a:tc>
                  <a:txBody>
                    <a:bodyPr/>
                    <a:lstStyle/>
                    <a:p>
                      <a:pPr algn="ctr"/>
                      <a:r>
                        <a:rPr lang="en-US" sz="2400" dirty="0"/>
                        <a:t>Member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t>Aditya Thakare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t>Male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255424"/>
                  </a:ext>
                </a:extLst>
              </a:tr>
              <a:tr h="811624">
                <a:tc>
                  <a:txBody>
                    <a:bodyPr/>
                    <a:lstStyle/>
                    <a:p>
                      <a:pPr algn="ctr"/>
                      <a:r>
                        <a:rPr lang="en-US" sz="2400" dirty="0"/>
                        <a:t>Member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err="1"/>
                        <a:t>Abhaykumar</a:t>
                      </a:r>
                      <a:r>
                        <a:rPr lang="en-US" sz="2400" dirty="0"/>
                        <a:t> Roy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t>Male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2311573"/>
                  </a:ext>
                </a:extLst>
              </a:tr>
              <a:tr h="811624">
                <a:tc>
                  <a:txBody>
                    <a:bodyPr/>
                    <a:lstStyle/>
                    <a:p>
                      <a:pPr algn="ctr"/>
                      <a:r>
                        <a:rPr lang="en-US" sz="2400" dirty="0"/>
                        <a:t>Member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t>Dhiraj Agrawal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t>Male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9615225"/>
                  </a:ext>
                </a:extLst>
              </a:tr>
              <a:tr h="811624">
                <a:tc>
                  <a:txBody>
                    <a:bodyPr/>
                    <a:lstStyle/>
                    <a:p>
                      <a:pPr algn="ctr"/>
                      <a:r>
                        <a:rPr lang="en-US" sz="2400" dirty="0"/>
                        <a:t>Member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t>Sanyam Patwari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t>Male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683333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697181"/>
            <a:chOff x="0" y="0"/>
            <a:chExt cx="4816593" cy="446994"/>
          </a:xfrm>
        </p:grpSpPr>
        <p:sp>
          <p:nvSpPr>
            <p:cNvPr id="3" name="Freeform 3"/>
            <p:cNvSpPr/>
            <p:nvPr/>
          </p:nvSpPr>
          <p:spPr>
            <a:xfrm>
              <a:off x="0" y="0"/>
              <a:ext cx="4816592" cy="446994"/>
            </a:xfrm>
            <a:custGeom>
              <a:avLst/>
              <a:gdLst/>
              <a:ahLst/>
              <a:cxnLst/>
              <a:rect l="l" t="t" r="r" b="b"/>
              <a:pathLst>
                <a:path w="4816592" h="446994">
                  <a:moveTo>
                    <a:pt x="0" y="0"/>
                  </a:moveTo>
                  <a:lnTo>
                    <a:pt x="4816592" y="0"/>
                  </a:lnTo>
                  <a:lnTo>
                    <a:pt x="4816592" y="446994"/>
                  </a:lnTo>
                  <a:lnTo>
                    <a:pt x="0" y="446994"/>
                  </a:lnTo>
                  <a:close/>
                </a:path>
              </a:pathLst>
            </a:custGeom>
            <a:solidFill>
              <a:srgbClr val="FFFFFF"/>
            </a:solidFill>
          </p:spPr>
        </p:sp>
        <p:sp>
          <p:nvSpPr>
            <p:cNvPr id="4" name="TextBox 4"/>
            <p:cNvSpPr txBox="1"/>
            <p:nvPr/>
          </p:nvSpPr>
          <p:spPr>
            <a:xfrm>
              <a:off x="0" y="-38100"/>
              <a:ext cx="4816593" cy="485094"/>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6662574" y="122606"/>
            <a:ext cx="3497653" cy="1540119"/>
          </a:xfrm>
          <a:custGeom>
            <a:avLst/>
            <a:gdLst/>
            <a:ahLst/>
            <a:cxnLst/>
            <a:rect l="l" t="t" r="r" b="b"/>
            <a:pathLst>
              <a:path w="3497653" h="1540119">
                <a:moveTo>
                  <a:pt x="0" y="0"/>
                </a:moveTo>
                <a:lnTo>
                  <a:pt x="3497653" y="0"/>
                </a:lnTo>
                <a:lnTo>
                  <a:pt x="3497653" y="1540119"/>
                </a:lnTo>
                <a:lnTo>
                  <a:pt x="0" y="1540119"/>
                </a:lnTo>
                <a:lnTo>
                  <a:pt x="0" y="0"/>
                </a:lnTo>
                <a:close/>
              </a:path>
            </a:pathLst>
          </a:custGeom>
          <a:blipFill>
            <a:blip r:embed="rId2"/>
            <a:stretch>
              <a:fillRect l="-26230" t="-89762" r="-26367" b="-156792"/>
            </a:stretch>
          </a:blipFill>
        </p:spPr>
      </p:sp>
      <p:grpSp>
        <p:nvGrpSpPr>
          <p:cNvPr id="6" name="Group 6"/>
          <p:cNvGrpSpPr/>
          <p:nvPr/>
        </p:nvGrpSpPr>
        <p:grpSpPr>
          <a:xfrm>
            <a:off x="10969852" y="588904"/>
            <a:ext cx="5022437" cy="749179"/>
            <a:chOff x="0" y="0"/>
            <a:chExt cx="6696583" cy="998906"/>
          </a:xfrm>
        </p:grpSpPr>
        <p:sp>
          <p:nvSpPr>
            <p:cNvPr id="7" name="Freeform 7" descr="A red blue and white logo  Description automatically generated"/>
            <p:cNvSpPr/>
            <p:nvPr/>
          </p:nvSpPr>
          <p:spPr>
            <a:xfrm>
              <a:off x="0" y="0"/>
              <a:ext cx="6696583" cy="998855"/>
            </a:xfrm>
            <a:custGeom>
              <a:avLst/>
              <a:gdLst/>
              <a:ahLst/>
              <a:cxnLst/>
              <a:rect l="l" t="t" r="r" b="b"/>
              <a:pathLst>
                <a:path w="6696583" h="998855">
                  <a:moveTo>
                    <a:pt x="0" y="0"/>
                  </a:moveTo>
                  <a:lnTo>
                    <a:pt x="6696583" y="0"/>
                  </a:lnTo>
                  <a:lnTo>
                    <a:pt x="6696583" y="998855"/>
                  </a:lnTo>
                  <a:lnTo>
                    <a:pt x="0" y="998855"/>
                  </a:lnTo>
                  <a:lnTo>
                    <a:pt x="0" y="0"/>
                  </a:lnTo>
                  <a:close/>
                </a:path>
              </a:pathLst>
            </a:custGeom>
            <a:blipFill>
              <a:blip r:embed="rId3"/>
              <a:stretch>
                <a:fillRect b="-5"/>
              </a:stretch>
            </a:blipFill>
          </p:spPr>
        </p:sp>
      </p:grpSp>
      <p:sp>
        <p:nvSpPr>
          <p:cNvPr id="8" name="Freeform 8"/>
          <p:cNvSpPr/>
          <p:nvPr/>
        </p:nvSpPr>
        <p:spPr>
          <a:xfrm>
            <a:off x="3163313" y="523697"/>
            <a:ext cx="2690517" cy="879592"/>
          </a:xfrm>
          <a:custGeom>
            <a:avLst/>
            <a:gdLst/>
            <a:ahLst/>
            <a:cxnLst/>
            <a:rect l="l" t="t" r="r" b="b"/>
            <a:pathLst>
              <a:path w="2690517" h="879592">
                <a:moveTo>
                  <a:pt x="0" y="0"/>
                </a:moveTo>
                <a:lnTo>
                  <a:pt x="2690518" y="0"/>
                </a:lnTo>
                <a:lnTo>
                  <a:pt x="2690518" y="879593"/>
                </a:lnTo>
                <a:lnTo>
                  <a:pt x="0" y="87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6"/>
            <a:stretch>
              <a:fillRect/>
            </a:stretch>
          </a:blipFill>
        </p:spPr>
      </p:sp>
      <p:sp>
        <p:nvSpPr>
          <p:cNvPr id="10" name="TextBox 10"/>
          <p:cNvSpPr txBox="1"/>
          <p:nvPr/>
        </p:nvSpPr>
        <p:spPr>
          <a:xfrm>
            <a:off x="1028700" y="3144765"/>
            <a:ext cx="15928134" cy="2257425"/>
          </a:xfrm>
          <a:prstGeom prst="rect">
            <a:avLst/>
          </a:prstGeom>
        </p:spPr>
        <p:txBody>
          <a:bodyPr lIns="0" tIns="0" rIns="0" bIns="0" rtlCol="0" anchor="t">
            <a:spAutoFit/>
          </a:bodyPr>
          <a:lstStyle/>
          <a:p>
            <a:pPr algn="l">
              <a:lnSpc>
                <a:spcPts val="4920"/>
              </a:lnSpc>
            </a:pPr>
            <a:r>
              <a:rPr lang="en-US" sz="4100" u="sng">
                <a:solidFill>
                  <a:srgbClr val="C00000"/>
                </a:solidFill>
                <a:latin typeface="Montserrat"/>
                <a:ea typeface="Montserrat"/>
                <a:cs typeface="Montserrat"/>
                <a:sym typeface="Montserrat"/>
              </a:rPr>
              <a:t>Proposed Solution (Describe your Idea / Solution / Prototype)</a:t>
            </a:r>
          </a:p>
          <a:p>
            <a:pPr algn="l">
              <a:lnSpc>
                <a:spcPts val="3240"/>
              </a:lnSpc>
            </a:pPr>
            <a:endParaRPr lang="en-US" sz="4100" u="sng">
              <a:solidFill>
                <a:srgbClr val="C00000"/>
              </a:solidFill>
              <a:latin typeface="Montserrat"/>
              <a:ea typeface="Montserrat"/>
              <a:cs typeface="Montserrat"/>
              <a:sym typeface="Montserrat"/>
            </a:endParaRPr>
          </a:p>
          <a:p>
            <a:pPr marL="469582" lvl="1" indent="-234791" algn="just">
              <a:lnSpc>
                <a:spcPts val="3240"/>
              </a:lnSpc>
              <a:buFont typeface="Arial"/>
              <a:buChar char="•"/>
            </a:pPr>
            <a:r>
              <a:rPr lang="en-US" sz="2700">
                <a:solidFill>
                  <a:srgbClr val="000000"/>
                </a:solidFill>
                <a:latin typeface="Montserrat"/>
                <a:ea typeface="Montserrat"/>
                <a:cs typeface="Montserrat"/>
                <a:sym typeface="Montserrat"/>
              </a:rPr>
              <a:t>Detailed explanation of the proposed solution</a:t>
            </a:r>
          </a:p>
          <a:p>
            <a:pPr marL="469582" lvl="1" indent="-234791" algn="just">
              <a:lnSpc>
                <a:spcPts val="3240"/>
              </a:lnSpc>
              <a:buFont typeface="Arial"/>
              <a:buChar char="•"/>
            </a:pPr>
            <a:r>
              <a:rPr lang="en-US" sz="2700">
                <a:solidFill>
                  <a:srgbClr val="000000"/>
                </a:solidFill>
                <a:latin typeface="Montserrat"/>
                <a:ea typeface="Montserrat"/>
                <a:cs typeface="Montserrat"/>
                <a:sym typeface="Montserrat"/>
              </a:rPr>
              <a:t>How it addresses the problem</a:t>
            </a:r>
          </a:p>
          <a:p>
            <a:pPr marL="469582" lvl="1" indent="-234791" algn="just">
              <a:lnSpc>
                <a:spcPts val="3240"/>
              </a:lnSpc>
              <a:buFont typeface="Arial"/>
              <a:buChar char="•"/>
            </a:pPr>
            <a:r>
              <a:rPr lang="en-US" sz="2700">
                <a:solidFill>
                  <a:srgbClr val="000000"/>
                </a:solidFill>
                <a:latin typeface="Montserrat"/>
                <a:ea typeface="Montserrat"/>
                <a:cs typeface="Montserrat"/>
                <a:sym typeface="Montserrat"/>
              </a:rPr>
              <a:t>Innovation and uniqueness of the solution </a:t>
            </a:r>
          </a:p>
        </p:txBody>
      </p:sp>
      <p:sp>
        <p:nvSpPr>
          <p:cNvPr id="11" name="TextBox 11"/>
          <p:cNvSpPr txBox="1"/>
          <p:nvPr/>
        </p:nvSpPr>
        <p:spPr>
          <a:xfrm>
            <a:off x="4585802" y="1974068"/>
            <a:ext cx="9116397" cy="819150"/>
          </a:xfrm>
          <a:prstGeom prst="rect">
            <a:avLst/>
          </a:prstGeom>
        </p:spPr>
        <p:txBody>
          <a:bodyPr lIns="0" tIns="0" rIns="0" bIns="0" rtlCol="0" anchor="t">
            <a:spAutoFit/>
          </a:bodyPr>
          <a:lstStyle/>
          <a:p>
            <a:pPr algn="ctr">
              <a:lnSpc>
                <a:spcPts val="6480"/>
              </a:lnSpc>
            </a:pPr>
            <a:r>
              <a:rPr lang="en-US" sz="5400" u="sng">
                <a:solidFill>
                  <a:srgbClr val="4472C4"/>
                </a:solidFill>
                <a:latin typeface="Montserrat"/>
                <a:ea typeface="Montserrat"/>
                <a:cs typeface="Montserrat"/>
                <a:sym typeface="Montserrat"/>
              </a:rPr>
              <a:t>IDEA TITLE</a:t>
            </a:r>
          </a:p>
        </p:txBody>
      </p:sp>
      <p:sp>
        <p:nvSpPr>
          <p:cNvPr id="12" name="Freeform 12"/>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697181"/>
            <a:chOff x="0" y="0"/>
            <a:chExt cx="4816593" cy="446994"/>
          </a:xfrm>
        </p:grpSpPr>
        <p:sp>
          <p:nvSpPr>
            <p:cNvPr id="3" name="Freeform 3"/>
            <p:cNvSpPr/>
            <p:nvPr/>
          </p:nvSpPr>
          <p:spPr>
            <a:xfrm>
              <a:off x="0" y="0"/>
              <a:ext cx="4816592" cy="446994"/>
            </a:xfrm>
            <a:custGeom>
              <a:avLst/>
              <a:gdLst/>
              <a:ahLst/>
              <a:cxnLst/>
              <a:rect l="l" t="t" r="r" b="b"/>
              <a:pathLst>
                <a:path w="4816592" h="446994">
                  <a:moveTo>
                    <a:pt x="0" y="0"/>
                  </a:moveTo>
                  <a:lnTo>
                    <a:pt x="4816592" y="0"/>
                  </a:lnTo>
                  <a:lnTo>
                    <a:pt x="4816592" y="446994"/>
                  </a:lnTo>
                  <a:lnTo>
                    <a:pt x="0" y="446994"/>
                  </a:lnTo>
                  <a:close/>
                </a:path>
              </a:pathLst>
            </a:custGeom>
            <a:solidFill>
              <a:srgbClr val="FFFFFF"/>
            </a:solidFill>
          </p:spPr>
        </p:sp>
        <p:sp>
          <p:nvSpPr>
            <p:cNvPr id="4" name="TextBox 4"/>
            <p:cNvSpPr txBox="1"/>
            <p:nvPr/>
          </p:nvSpPr>
          <p:spPr>
            <a:xfrm>
              <a:off x="0" y="-38100"/>
              <a:ext cx="4816593" cy="485094"/>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6662574" y="122606"/>
            <a:ext cx="3497653" cy="1540119"/>
          </a:xfrm>
          <a:custGeom>
            <a:avLst/>
            <a:gdLst/>
            <a:ahLst/>
            <a:cxnLst/>
            <a:rect l="l" t="t" r="r" b="b"/>
            <a:pathLst>
              <a:path w="3497653" h="1540119">
                <a:moveTo>
                  <a:pt x="0" y="0"/>
                </a:moveTo>
                <a:lnTo>
                  <a:pt x="3497653" y="0"/>
                </a:lnTo>
                <a:lnTo>
                  <a:pt x="3497653" y="1540119"/>
                </a:lnTo>
                <a:lnTo>
                  <a:pt x="0" y="1540119"/>
                </a:lnTo>
                <a:lnTo>
                  <a:pt x="0" y="0"/>
                </a:lnTo>
                <a:close/>
              </a:path>
            </a:pathLst>
          </a:custGeom>
          <a:blipFill>
            <a:blip r:embed="rId2"/>
            <a:stretch>
              <a:fillRect l="-26230" t="-89762" r="-26367" b="-156792"/>
            </a:stretch>
          </a:blipFill>
        </p:spPr>
      </p:sp>
      <p:grpSp>
        <p:nvGrpSpPr>
          <p:cNvPr id="6" name="Group 6"/>
          <p:cNvGrpSpPr/>
          <p:nvPr/>
        </p:nvGrpSpPr>
        <p:grpSpPr>
          <a:xfrm>
            <a:off x="10969852" y="588904"/>
            <a:ext cx="5022437" cy="749179"/>
            <a:chOff x="0" y="0"/>
            <a:chExt cx="6696583" cy="998906"/>
          </a:xfrm>
        </p:grpSpPr>
        <p:sp>
          <p:nvSpPr>
            <p:cNvPr id="7" name="Freeform 7" descr="A red blue and white logo  Description automatically generated"/>
            <p:cNvSpPr/>
            <p:nvPr/>
          </p:nvSpPr>
          <p:spPr>
            <a:xfrm>
              <a:off x="0" y="0"/>
              <a:ext cx="6696583" cy="998855"/>
            </a:xfrm>
            <a:custGeom>
              <a:avLst/>
              <a:gdLst/>
              <a:ahLst/>
              <a:cxnLst/>
              <a:rect l="l" t="t" r="r" b="b"/>
              <a:pathLst>
                <a:path w="6696583" h="998855">
                  <a:moveTo>
                    <a:pt x="0" y="0"/>
                  </a:moveTo>
                  <a:lnTo>
                    <a:pt x="6696583" y="0"/>
                  </a:lnTo>
                  <a:lnTo>
                    <a:pt x="6696583" y="998855"/>
                  </a:lnTo>
                  <a:lnTo>
                    <a:pt x="0" y="998855"/>
                  </a:lnTo>
                  <a:lnTo>
                    <a:pt x="0" y="0"/>
                  </a:lnTo>
                  <a:close/>
                </a:path>
              </a:pathLst>
            </a:custGeom>
            <a:blipFill>
              <a:blip r:embed="rId3"/>
              <a:stretch>
                <a:fillRect b="-5"/>
              </a:stretch>
            </a:blipFill>
          </p:spPr>
        </p:sp>
      </p:grpSp>
      <p:sp>
        <p:nvSpPr>
          <p:cNvPr id="8" name="Freeform 8"/>
          <p:cNvSpPr/>
          <p:nvPr/>
        </p:nvSpPr>
        <p:spPr>
          <a:xfrm>
            <a:off x="3163313" y="523697"/>
            <a:ext cx="2690517" cy="879592"/>
          </a:xfrm>
          <a:custGeom>
            <a:avLst/>
            <a:gdLst/>
            <a:ahLst/>
            <a:cxnLst/>
            <a:rect l="l" t="t" r="r" b="b"/>
            <a:pathLst>
              <a:path w="2690517" h="879592">
                <a:moveTo>
                  <a:pt x="0" y="0"/>
                </a:moveTo>
                <a:lnTo>
                  <a:pt x="2690518" y="0"/>
                </a:lnTo>
                <a:lnTo>
                  <a:pt x="2690518" y="879593"/>
                </a:lnTo>
                <a:lnTo>
                  <a:pt x="0" y="87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6"/>
            <a:stretch>
              <a:fillRect/>
            </a:stretch>
          </a:blipFill>
        </p:spPr>
      </p:sp>
      <p:sp>
        <p:nvSpPr>
          <p:cNvPr id="10" name="TextBox 10"/>
          <p:cNvSpPr txBox="1"/>
          <p:nvPr/>
        </p:nvSpPr>
        <p:spPr>
          <a:xfrm>
            <a:off x="864020" y="1974068"/>
            <a:ext cx="16559961" cy="819150"/>
          </a:xfrm>
          <a:prstGeom prst="rect">
            <a:avLst/>
          </a:prstGeom>
        </p:spPr>
        <p:txBody>
          <a:bodyPr lIns="0" tIns="0" rIns="0" bIns="0" rtlCol="0" anchor="t">
            <a:spAutoFit/>
          </a:bodyPr>
          <a:lstStyle/>
          <a:p>
            <a:pPr algn="ctr">
              <a:lnSpc>
                <a:spcPts val="6480"/>
              </a:lnSpc>
            </a:pPr>
            <a:r>
              <a:rPr lang="en-US" sz="5400" u="sng">
                <a:solidFill>
                  <a:srgbClr val="4472C4"/>
                </a:solidFill>
                <a:latin typeface="Montserrat"/>
                <a:ea typeface="Montserrat"/>
                <a:cs typeface="Montserrat"/>
                <a:sym typeface="Montserrat"/>
              </a:rPr>
              <a:t>OUTLINE OF UNIQUE &amp; INNOVAITVE SOLUTION</a:t>
            </a:r>
          </a:p>
        </p:txBody>
      </p:sp>
      <p:sp>
        <p:nvSpPr>
          <p:cNvPr id="11" name="Freeform 11"/>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sp>
        <p:nvSpPr>
          <p:cNvPr id="2" name="TextBox 2"/>
          <p:cNvSpPr txBox="1"/>
          <p:nvPr/>
        </p:nvSpPr>
        <p:spPr>
          <a:xfrm>
            <a:off x="1028700" y="3144765"/>
            <a:ext cx="15928134" cy="1781175"/>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Technologies to be used (e.g. programming languages, frameworks, hardware)</a:t>
            </a:r>
          </a:p>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Methodology and process for implementation (Flow Charts/Images/ working prototype)</a:t>
            </a:r>
          </a:p>
          <a:p>
            <a:pPr algn="l">
              <a:lnSpc>
                <a:spcPts val="3240"/>
              </a:lnSpc>
            </a:pPr>
            <a:endParaRPr lang="en-US" sz="3000">
              <a:solidFill>
                <a:srgbClr val="000000"/>
              </a:solidFill>
              <a:latin typeface="Montserrat"/>
              <a:ea typeface="Montserrat"/>
              <a:cs typeface="Montserrat"/>
              <a:sym typeface="Montserrat"/>
            </a:endParaRPr>
          </a:p>
        </p:txBody>
      </p:sp>
      <p:grpSp>
        <p:nvGrpSpPr>
          <p:cNvPr id="3" name="Group 3"/>
          <p:cNvGrpSpPr/>
          <p:nvPr/>
        </p:nvGrpSpPr>
        <p:grpSpPr>
          <a:xfrm>
            <a:off x="0" y="0"/>
            <a:ext cx="18288000" cy="1697181"/>
            <a:chOff x="0" y="0"/>
            <a:chExt cx="4816593" cy="446994"/>
          </a:xfrm>
        </p:grpSpPr>
        <p:sp>
          <p:nvSpPr>
            <p:cNvPr id="4" name="Freeform 4"/>
            <p:cNvSpPr/>
            <p:nvPr/>
          </p:nvSpPr>
          <p:spPr>
            <a:xfrm>
              <a:off x="0" y="0"/>
              <a:ext cx="4816592" cy="446994"/>
            </a:xfrm>
            <a:custGeom>
              <a:avLst/>
              <a:gdLst/>
              <a:ahLst/>
              <a:cxnLst/>
              <a:rect l="l" t="t" r="r" b="b"/>
              <a:pathLst>
                <a:path w="4816592" h="446994">
                  <a:moveTo>
                    <a:pt x="0" y="0"/>
                  </a:moveTo>
                  <a:lnTo>
                    <a:pt x="4816592" y="0"/>
                  </a:lnTo>
                  <a:lnTo>
                    <a:pt x="4816592" y="446994"/>
                  </a:lnTo>
                  <a:lnTo>
                    <a:pt x="0" y="446994"/>
                  </a:lnTo>
                  <a:close/>
                </a:path>
              </a:pathLst>
            </a:custGeom>
            <a:solidFill>
              <a:srgbClr val="FFFFFF"/>
            </a:solidFill>
          </p:spPr>
        </p:sp>
        <p:sp>
          <p:nvSpPr>
            <p:cNvPr id="5" name="TextBox 5"/>
            <p:cNvSpPr txBox="1"/>
            <p:nvPr/>
          </p:nvSpPr>
          <p:spPr>
            <a:xfrm>
              <a:off x="0" y="-38100"/>
              <a:ext cx="4816593" cy="485094"/>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6662574" y="122606"/>
            <a:ext cx="3497653" cy="1540119"/>
          </a:xfrm>
          <a:custGeom>
            <a:avLst/>
            <a:gdLst/>
            <a:ahLst/>
            <a:cxnLst/>
            <a:rect l="l" t="t" r="r" b="b"/>
            <a:pathLst>
              <a:path w="3497653" h="1540119">
                <a:moveTo>
                  <a:pt x="0" y="0"/>
                </a:moveTo>
                <a:lnTo>
                  <a:pt x="3497653" y="0"/>
                </a:lnTo>
                <a:lnTo>
                  <a:pt x="3497653" y="1540119"/>
                </a:lnTo>
                <a:lnTo>
                  <a:pt x="0" y="1540119"/>
                </a:lnTo>
                <a:lnTo>
                  <a:pt x="0" y="0"/>
                </a:lnTo>
                <a:close/>
              </a:path>
            </a:pathLst>
          </a:custGeom>
          <a:blipFill>
            <a:blip r:embed="rId2"/>
            <a:stretch>
              <a:fillRect l="-26230" t="-89762" r="-26367" b="-156792"/>
            </a:stretch>
          </a:blipFill>
        </p:spPr>
      </p:sp>
      <p:grpSp>
        <p:nvGrpSpPr>
          <p:cNvPr id="7" name="Group 7"/>
          <p:cNvGrpSpPr/>
          <p:nvPr/>
        </p:nvGrpSpPr>
        <p:grpSpPr>
          <a:xfrm>
            <a:off x="10969852" y="588904"/>
            <a:ext cx="5022437" cy="749179"/>
            <a:chOff x="0" y="0"/>
            <a:chExt cx="6696583" cy="998906"/>
          </a:xfrm>
        </p:grpSpPr>
        <p:sp>
          <p:nvSpPr>
            <p:cNvPr id="8" name="Freeform 8" descr="A red blue and white logo  Description automatically generated"/>
            <p:cNvSpPr/>
            <p:nvPr/>
          </p:nvSpPr>
          <p:spPr>
            <a:xfrm>
              <a:off x="0" y="0"/>
              <a:ext cx="6696583" cy="998855"/>
            </a:xfrm>
            <a:custGeom>
              <a:avLst/>
              <a:gdLst/>
              <a:ahLst/>
              <a:cxnLst/>
              <a:rect l="l" t="t" r="r" b="b"/>
              <a:pathLst>
                <a:path w="6696583" h="998855">
                  <a:moveTo>
                    <a:pt x="0" y="0"/>
                  </a:moveTo>
                  <a:lnTo>
                    <a:pt x="6696583" y="0"/>
                  </a:lnTo>
                  <a:lnTo>
                    <a:pt x="6696583" y="998855"/>
                  </a:lnTo>
                  <a:lnTo>
                    <a:pt x="0" y="998855"/>
                  </a:lnTo>
                  <a:lnTo>
                    <a:pt x="0" y="0"/>
                  </a:lnTo>
                  <a:close/>
                </a:path>
              </a:pathLst>
            </a:custGeom>
            <a:blipFill>
              <a:blip r:embed="rId3"/>
              <a:stretch>
                <a:fillRect b="-5"/>
              </a:stretch>
            </a:blipFill>
          </p:spPr>
        </p:sp>
      </p:grpSp>
      <p:sp>
        <p:nvSpPr>
          <p:cNvPr id="9" name="Freeform 9"/>
          <p:cNvSpPr/>
          <p:nvPr/>
        </p:nvSpPr>
        <p:spPr>
          <a:xfrm>
            <a:off x="3163313" y="523697"/>
            <a:ext cx="2690517" cy="879592"/>
          </a:xfrm>
          <a:custGeom>
            <a:avLst/>
            <a:gdLst/>
            <a:ahLst/>
            <a:cxnLst/>
            <a:rect l="l" t="t" r="r" b="b"/>
            <a:pathLst>
              <a:path w="2690517" h="879592">
                <a:moveTo>
                  <a:pt x="0" y="0"/>
                </a:moveTo>
                <a:lnTo>
                  <a:pt x="2690518" y="0"/>
                </a:lnTo>
                <a:lnTo>
                  <a:pt x="2690518" y="879593"/>
                </a:lnTo>
                <a:lnTo>
                  <a:pt x="0" y="87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6"/>
            <a:stretch>
              <a:fillRect/>
            </a:stretch>
          </a:blipFill>
        </p:spPr>
      </p:sp>
      <p:sp>
        <p:nvSpPr>
          <p:cNvPr id="11" name="TextBox 11"/>
          <p:cNvSpPr txBox="1"/>
          <p:nvPr/>
        </p:nvSpPr>
        <p:spPr>
          <a:xfrm>
            <a:off x="4585802" y="1974068"/>
            <a:ext cx="9116397" cy="819150"/>
          </a:xfrm>
          <a:prstGeom prst="rect">
            <a:avLst/>
          </a:prstGeom>
        </p:spPr>
        <p:txBody>
          <a:bodyPr lIns="0" tIns="0" rIns="0" bIns="0" rtlCol="0" anchor="t">
            <a:spAutoFit/>
          </a:bodyPr>
          <a:lstStyle/>
          <a:p>
            <a:pPr algn="ctr">
              <a:lnSpc>
                <a:spcPts val="6480"/>
              </a:lnSpc>
            </a:pPr>
            <a:r>
              <a:rPr lang="en-US" sz="5400" u="sng">
                <a:solidFill>
                  <a:srgbClr val="4472C4"/>
                </a:solidFill>
                <a:latin typeface="Montserrat"/>
                <a:ea typeface="Montserrat"/>
                <a:cs typeface="Montserrat"/>
                <a:sym typeface="Montserrat"/>
              </a:rPr>
              <a:t>TECHNICAL APPROACH</a:t>
            </a:r>
          </a:p>
        </p:txBody>
      </p:sp>
      <p:sp>
        <p:nvSpPr>
          <p:cNvPr id="12" name="Freeform 12"/>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sp>
        <p:nvSpPr>
          <p:cNvPr id="2" name="TextBox 2"/>
          <p:cNvSpPr txBox="1"/>
          <p:nvPr/>
        </p:nvSpPr>
        <p:spPr>
          <a:xfrm>
            <a:off x="1028700" y="3144765"/>
            <a:ext cx="15928134" cy="1828800"/>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Analysis of the feasibility of the idea</a:t>
            </a:r>
          </a:p>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Potential challenges and risks</a:t>
            </a:r>
          </a:p>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Strategies for overcoming these challenges</a:t>
            </a:r>
          </a:p>
          <a:p>
            <a:pPr algn="l">
              <a:lnSpc>
                <a:spcPts val="3600"/>
              </a:lnSpc>
            </a:pPr>
            <a:endParaRPr lang="en-US" sz="3000">
              <a:solidFill>
                <a:srgbClr val="000000"/>
              </a:solidFill>
              <a:latin typeface="Montserrat"/>
              <a:ea typeface="Montserrat"/>
              <a:cs typeface="Montserrat"/>
              <a:sym typeface="Montserrat"/>
            </a:endParaRPr>
          </a:p>
        </p:txBody>
      </p:sp>
      <p:grpSp>
        <p:nvGrpSpPr>
          <p:cNvPr id="3" name="Group 3"/>
          <p:cNvGrpSpPr/>
          <p:nvPr/>
        </p:nvGrpSpPr>
        <p:grpSpPr>
          <a:xfrm>
            <a:off x="0" y="0"/>
            <a:ext cx="18288000" cy="1697181"/>
            <a:chOff x="0" y="0"/>
            <a:chExt cx="4816593" cy="446994"/>
          </a:xfrm>
        </p:grpSpPr>
        <p:sp>
          <p:nvSpPr>
            <p:cNvPr id="4" name="Freeform 4"/>
            <p:cNvSpPr/>
            <p:nvPr/>
          </p:nvSpPr>
          <p:spPr>
            <a:xfrm>
              <a:off x="0" y="0"/>
              <a:ext cx="4816592" cy="446994"/>
            </a:xfrm>
            <a:custGeom>
              <a:avLst/>
              <a:gdLst/>
              <a:ahLst/>
              <a:cxnLst/>
              <a:rect l="l" t="t" r="r" b="b"/>
              <a:pathLst>
                <a:path w="4816592" h="446994">
                  <a:moveTo>
                    <a:pt x="0" y="0"/>
                  </a:moveTo>
                  <a:lnTo>
                    <a:pt x="4816592" y="0"/>
                  </a:lnTo>
                  <a:lnTo>
                    <a:pt x="4816592" y="446994"/>
                  </a:lnTo>
                  <a:lnTo>
                    <a:pt x="0" y="446994"/>
                  </a:lnTo>
                  <a:close/>
                </a:path>
              </a:pathLst>
            </a:custGeom>
            <a:solidFill>
              <a:srgbClr val="FFFFFF"/>
            </a:solidFill>
          </p:spPr>
        </p:sp>
        <p:sp>
          <p:nvSpPr>
            <p:cNvPr id="5" name="TextBox 5"/>
            <p:cNvSpPr txBox="1"/>
            <p:nvPr/>
          </p:nvSpPr>
          <p:spPr>
            <a:xfrm>
              <a:off x="0" y="-38100"/>
              <a:ext cx="4816593" cy="485094"/>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6662574" y="122606"/>
            <a:ext cx="3497653" cy="1540119"/>
          </a:xfrm>
          <a:custGeom>
            <a:avLst/>
            <a:gdLst/>
            <a:ahLst/>
            <a:cxnLst/>
            <a:rect l="l" t="t" r="r" b="b"/>
            <a:pathLst>
              <a:path w="3497653" h="1540119">
                <a:moveTo>
                  <a:pt x="0" y="0"/>
                </a:moveTo>
                <a:lnTo>
                  <a:pt x="3497653" y="0"/>
                </a:lnTo>
                <a:lnTo>
                  <a:pt x="3497653" y="1540119"/>
                </a:lnTo>
                <a:lnTo>
                  <a:pt x="0" y="1540119"/>
                </a:lnTo>
                <a:lnTo>
                  <a:pt x="0" y="0"/>
                </a:lnTo>
                <a:close/>
              </a:path>
            </a:pathLst>
          </a:custGeom>
          <a:blipFill>
            <a:blip r:embed="rId2"/>
            <a:stretch>
              <a:fillRect l="-26230" t="-89762" r="-26367" b="-156792"/>
            </a:stretch>
          </a:blipFill>
        </p:spPr>
      </p:sp>
      <p:grpSp>
        <p:nvGrpSpPr>
          <p:cNvPr id="7" name="Group 7"/>
          <p:cNvGrpSpPr/>
          <p:nvPr/>
        </p:nvGrpSpPr>
        <p:grpSpPr>
          <a:xfrm>
            <a:off x="10969852" y="588904"/>
            <a:ext cx="5022437" cy="749179"/>
            <a:chOff x="0" y="0"/>
            <a:chExt cx="6696583" cy="998906"/>
          </a:xfrm>
        </p:grpSpPr>
        <p:sp>
          <p:nvSpPr>
            <p:cNvPr id="8" name="Freeform 8" descr="A red blue and white logo  Description automatically generated"/>
            <p:cNvSpPr/>
            <p:nvPr/>
          </p:nvSpPr>
          <p:spPr>
            <a:xfrm>
              <a:off x="0" y="0"/>
              <a:ext cx="6696583" cy="998855"/>
            </a:xfrm>
            <a:custGeom>
              <a:avLst/>
              <a:gdLst/>
              <a:ahLst/>
              <a:cxnLst/>
              <a:rect l="l" t="t" r="r" b="b"/>
              <a:pathLst>
                <a:path w="6696583" h="998855">
                  <a:moveTo>
                    <a:pt x="0" y="0"/>
                  </a:moveTo>
                  <a:lnTo>
                    <a:pt x="6696583" y="0"/>
                  </a:lnTo>
                  <a:lnTo>
                    <a:pt x="6696583" y="998855"/>
                  </a:lnTo>
                  <a:lnTo>
                    <a:pt x="0" y="998855"/>
                  </a:lnTo>
                  <a:lnTo>
                    <a:pt x="0" y="0"/>
                  </a:lnTo>
                  <a:close/>
                </a:path>
              </a:pathLst>
            </a:custGeom>
            <a:blipFill>
              <a:blip r:embed="rId3"/>
              <a:stretch>
                <a:fillRect b="-5"/>
              </a:stretch>
            </a:blipFill>
          </p:spPr>
        </p:sp>
      </p:grpSp>
      <p:sp>
        <p:nvSpPr>
          <p:cNvPr id="9" name="Freeform 9"/>
          <p:cNvSpPr/>
          <p:nvPr/>
        </p:nvSpPr>
        <p:spPr>
          <a:xfrm>
            <a:off x="3163313" y="523697"/>
            <a:ext cx="2690517" cy="879592"/>
          </a:xfrm>
          <a:custGeom>
            <a:avLst/>
            <a:gdLst/>
            <a:ahLst/>
            <a:cxnLst/>
            <a:rect l="l" t="t" r="r" b="b"/>
            <a:pathLst>
              <a:path w="2690517" h="879592">
                <a:moveTo>
                  <a:pt x="0" y="0"/>
                </a:moveTo>
                <a:lnTo>
                  <a:pt x="2690518" y="0"/>
                </a:lnTo>
                <a:lnTo>
                  <a:pt x="2690518" y="879593"/>
                </a:lnTo>
                <a:lnTo>
                  <a:pt x="0" y="87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6"/>
            <a:stretch>
              <a:fillRect/>
            </a:stretch>
          </a:blipFill>
        </p:spPr>
      </p:sp>
      <p:sp>
        <p:nvSpPr>
          <p:cNvPr id="11" name="TextBox 11"/>
          <p:cNvSpPr txBox="1"/>
          <p:nvPr/>
        </p:nvSpPr>
        <p:spPr>
          <a:xfrm>
            <a:off x="4585802" y="1974068"/>
            <a:ext cx="9116397" cy="819150"/>
          </a:xfrm>
          <a:prstGeom prst="rect">
            <a:avLst/>
          </a:prstGeom>
        </p:spPr>
        <p:txBody>
          <a:bodyPr lIns="0" tIns="0" rIns="0" bIns="0" rtlCol="0" anchor="t">
            <a:spAutoFit/>
          </a:bodyPr>
          <a:lstStyle/>
          <a:p>
            <a:pPr algn="ctr">
              <a:lnSpc>
                <a:spcPts val="6480"/>
              </a:lnSpc>
            </a:pPr>
            <a:r>
              <a:rPr lang="en-US" sz="5400" u="sng">
                <a:solidFill>
                  <a:srgbClr val="4472C4"/>
                </a:solidFill>
                <a:latin typeface="Montserrat"/>
                <a:ea typeface="Montserrat"/>
                <a:cs typeface="Montserrat"/>
                <a:sym typeface="Montserrat"/>
              </a:rPr>
              <a:t>FEASIBILITY &amp; VIABILITY</a:t>
            </a:r>
          </a:p>
        </p:txBody>
      </p:sp>
      <p:sp>
        <p:nvSpPr>
          <p:cNvPr id="12" name="Freeform 12"/>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sp>
        <p:nvSpPr>
          <p:cNvPr id="2" name="TextBox 2"/>
          <p:cNvSpPr txBox="1"/>
          <p:nvPr/>
        </p:nvSpPr>
        <p:spPr>
          <a:xfrm>
            <a:off x="1028700" y="3144765"/>
            <a:ext cx="15928134" cy="1371600"/>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Potential impact on the target audience</a:t>
            </a:r>
          </a:p>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Benefits of the solution (social, economic, environmental, etc.)</a:t>
            </a:r>
          </a:p>
          <a:p>
            <a:pPr algn="l">
              <a:lnSpc>
                <a:spcPts val="3600"/>
              </a:lnSpc>
            </a:pPr>
            <a:endParaRPr lang="en-US" sz="3000">
              <a:solidFill>
                <a:srgbClr val="000000"/>
              </a:solidFill>
              <a:latin typeface="Montserrat"/>
              <a:ea typeface="Montserrat"/>
              <a:cs typeface="Montserrat"/>
              <a:sym typeface="Montserrat"/>
            </a:endParaRPr>
          </a:p>
        </p:txBody>
      </p:sp>
      <p:grpSp>
        <p:nvGrpSpPr>
          <p:cNvPr id="3" name="Group 3"/>
          <p:cNvGrpSpPr/>
          <p:nvPr/>
        </p:nvGrpSpPr>
        <p:grpSpPr>
          <a:xfrm>
            <a:off x="0" y="0"/>
            <a:ext cx="18288000" cy="1697181"/>
            <a:chOff x="0" y="0"/>
            <a:chExt cx="4816593" cy="446994"/>
          </a:xfrm>
        </p:grpSpPr>
        <p:sp>
          <p:nvSpPr>
            <p:cNvPr id="4" name="Freeform 4"/>
            <p:cNvSpPr/>
            <p:nvPr/>
          </p:nvSpPr>
          <p:spPr>
            <a:xfrm>
              <a:off x="0" y="0"/>
              <a:ext cx="4816592" cy="446994"/>
            </a:xfrm>
            <a:custGeom>
              <a:avLst/>
              <a:gdLst/>
              <a:ahLst/>
              <a:cxnLst/>
              <a:rect l="l" t="t" r="r" b="b"/>
              <a:pathLst>
                <a:path w="4816592" h="446994">
                  <a:moveTo>
                    <a:pt x="0" y="0"/>
                  </a:moveTo>
                  <a:lnTo>
                    <a:pt x="4816592" y="0"/>
                  </a:lnTo>
                  <a:lnTo>
                    <a:pt x="4816592" y="446994"/>
                  </a:lnTo>
                  <a:lnTo>
                    <a:pt x="0" y="446994"/>
                  </a:lnTo>
                  <a:close/>
                </a:path>
              </a:pathLst>
            </a:custGeom>
            <a:solidFill>
              <a:srgbClr val="FFFFFF"/>
            </a:solidFill>
          </p:spPr>
        </p:sp>
        <p:sp>
          <p:nvSpPr>
            <p:cNvPr id="5" name="TextBox 5"/>
            <p:cNvSpPr txBox="1"/>
            <p:nvPr/>
          </p:nvSpPr>
          <p:spPr>
            <a:xfrm>
              <a:off x="0" y="-38100"/>
              <a:ext cx="4816593" cy="485094"/>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0969852" y="588904"/>
            <a:ext cx="5022437" cy="749179"/>
            <a:chOff x="0" y="0"/>
            <a:chExt cx="6696583" cy="998906"/>
          </a:xfrm>
        </p:grpSpPr>
        <p:sp>
          <p:nvSpPr>
            <p:cNvPr id="7" name="Freeform 7" descr="A red blue and white logo  Description automatically generated"/>
            <p:cNvSpPr/>
            <p:nvPr/>
          </p:nvSpPr>
          <p:spPr>
            <a:xfrm>
              <a:off x="0" y="0"/>
              <a:ext cx="6696583" cy="998855"/>
            </a:xfrm>
            <a:custGeom>
              <a:avLst/>
              <a:gdLst/>
              <a:ahLst/>
              <a:cxnLst/>
              <a:rect l="l" t="t" r="r" b="b"/>
              <a:pathLst>
                <a:path w="6696583" h="998855">
                  <a:moveTo>
                    <a:pt x="0" y="0"/>
                  </a:moveTo>
                  <a:lnTo>
                    <a:pt x="6696583" y="0"/>
                  </a:lnTo>
                  <a:lnTo>
                    <a:pt x="6696583" y="998855"/>
                  </a:lnTo>
                  <a:lnTo>
                    <a:pt x="0" y="998855"/>
                  </a:lnTo>
                  <a:lnTo>
                    <a:pt x="0" y="0"/>
                  </a:lnTo>
                  <a:close/>
                </a:path>
              </a:pathLst>
            </a:custGeom>
            <a:blipFill>
              <a:blip r:embed="rId2"/>
              <a:stretch>
                <a:fillRect b="-5"/>
              </a:stretch>
            </a:blipFill>
          </p:spPr>
        </p:sp>
      </p:grpSp>
      <p:sp>
        <p:nvSpPr>
          <p:cNvPr id="8" name="Freeform 8"/>
          <p:cNvSpPr/>
          <p:nvPr/>
        </p:nvSpPr>
        <p:spPr>
          <a:xfrm>
            <a:off x="3163313" y="523697"/>
            <a:ext cx="2690517" cy="879592"/>
          </a:xfrm>
          <a:custGeom>
            <a:avLst/>
            <a:gdLst/>
            <a:ahLst/>
            <a:cxnLst/>
            <a:rect l="l" t="t" r="r" b="b"/>
            <a:pathLst>
              <a:path w="2690517" h="879592">
                <a:moveTo>
                  <a:pt x="0" y="0"/>
                </a:moveTo>
                <a:lnTo>
                  <a:pt x="2690518" y="0"/>
                </a:lnTo>
                <a:lnTo>
                  <a:pt x="2690518" y="879593"/>
                </a:lnTo>
                <a:lnTo>
                  <a:pt x="0" y="8795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5"/>
            <a:stretch>
              <a:fillRect/>
            </a:stretch>
          </a:blipFill>
        </p:spPr>
      </p:sp>
      <p:sp>
        <p:nvSpPr>
          <p:cNvPr id="10" name="Freeform 10"/>
          <p:cNvSpPr/>
          <p:nvPr/>
        </p:nvSpPr>
        <p:spPr>
          <a:xfrm>
            <a:off x="6662574" y="122606"/>
            <a:ext cx="3497653" cy="1540119"/>
          </a:xfrm>
          <a:custGeom>
            <a:avLst/>
            <a:gdLst/>
            <a:ahLst/>
            <a:cxnLst/>
            <a:rect l="l" t="t" r="r" b="b"/>
            <a:pathLst>
              <a:path w="3497653" h="1540119">
                <a:moveTo>
                  <a:pt x="0" y="0"/>
                </a:moveTo>
                <a:lnTo>
                  <a:pt x="3497653" y="0"/>
                </a:lnTo>
                <a:lnTo>
                  <a:pt x="3497653" y="1540119"/>
                </a:lnTo>
                <a:lnTo>
                  <a:pt x="0" y="1540119"/>
                </a:lnTo>
                <a:lnTo>
                  <a:pt x="0" y="0"/>
                </a:lnTo>
                <a:close/>
              </a:path>
            </a:pathLst>
          </a:custGeom>
          <a:blipFill>
            <a:blip r:embed="rId6"/>
            <a:stretch>
              <a:fillRect l="-26230" t="-89762" r="-26367" b="-156792"/>
            </a:stretch>
          </a:blipFill>
        </p:spPr>
      </p:sp>
      <p:sp>
        <p:nvSpPr>
          <p:cNvPr id="11" name="TextBox 11"/>
          <p:cNvSpPr txBox="1"/>
          <p:nvPr/>
        </p:nvSpPr>
        <p:spPr>
          <a:xfrm>
            <a:off x="4585802" y="1974068"/>
            <a:ext cx="9116397" cy="819150"/>
          </a:xfrm>
          <a:prstGeom prst="rect">
            <a:avLst/>
          </a:prstGeom>
        </p:spPr>
        <p:txBody>
          <a:bodyPr lIns="0" tIns="0" rIns="0" bIns="0" rtlCol="0" anchor="t">
            <a:spAutoFit/>
          </a:bodyPr>
          <a:lstStyle/>
          <a:p>
            <a:pPr algn="ctr">
              <a:lnSpc>
                <a:spcPts val="6480"/>
              </a:lnSpc>
            </a:pPr>
            <a:r>
              <a:rPr lang="en-US" sz="5400" u="sng">
                <a:solidFill>
                  <a:srgbClr val="4472C4"/>
                </a:solidFill>
                <a:latin typeface="Montserrat"/>
                <a:ea typeface="Montserrat"/>
                <a:cs typeface="Montserrat"/>
                <a:sym typeface="Montserrat"/>
              </a:rPr>
              <a:t>IMPACT &amp; BENEFITS</a:t>
            </a:r>
          </a:p>
        </p:txBody>
      </p:sp>
      <p:sp>
        <p:nvSpPr>
          <p:cNvPr id="12" name="Freeform 12"/>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sp>
        <p:nvSpPr>
          <p:cNvPr id="2" name="TextBox 2"/>
          <p:cNvSpPr txBox="1"/>
          <p:nvPr/>
        </p:nvSpPr>
        <p:spPr>
          <a:xfrm>
            <a:off x="1028700" y="3144765"/>
            <a:ext cx="15928134" cy="3657600"/>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Business Model overview: Provide a concise description of the proposed business model, including how the idea will generate revenue, who the target customers are, and the value proposition offered.</a:t>
            </a:r>
          </a:p>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Commercialization Potential and Scalability</a:t>
            </a:r>
            <a:r>
              <a:rPr lang="en-US" sz="3000" u="sng">
                <a:solidFill>
                  <a:srgbClr val="000000"/>
                </a:solidFill>
                <a:latin typeface="Montserrat"/>
                <a:ea typeface="Montserrat"/>
                <a:cs typeface="Montserrat"/>
                <a:sym typeface="Montserrat"/>
              </a:rPr>
              <a:t>:</a:t>
            </a:r>
            <a:r>
              <a:rPr lang="en-US" sz="3000">
                <a:solidFill>
                  <a:srgbClr val="000000"/>
                </a:solidFill>
                <a:latin typeface="Montserrat"/>
                <a:ea typeface="Montserrat"/>
                <a:cs typeface="Montserrat"/>
                <a:sym typeface="Montserrat"/>
              </a:rPr>
              <a:t> Outline the size of the target market, the potential for growth and highlight the key steps for bringing the idea to market, including strategies, partnerships, and potential challenges with commercialization. </a:t>
            </a:r>
          </a:p>
          <a:p>
            <a:pPr algn="l">
              <a:lnSpc>
                <a:spcPts val="3600"/>
              </a:lnSpc>
            </a:pPr>
            <a:endParaRPr lang="en-US" sz="3000">
              <a:solidFill>
                <a:srgbClr val="000000"/>
              </a:solidFill>
              <a:latin typeface="Montserrat"/>
              <a:ea typeface="Montserrat"/>
              <a:cs typeface="Montserrat"/>
              <a:sym typeface="Montserrat"/>
            </a:endParaRPr>
          </a:p>
        </p:txBody>
      </p:sp>
      <p:grpSp>
        <p:nvGrpSpPr>
          <p:cNvPr id="3" name="Group 3"/>
          <p:cNvGrpSpPr/>
          <p:nvPr/>
        </p:nvGrpSpPr>
        <p:grpSpPr>
          <a:xfrm>
            <a:off x="0" y="0"/>
            <a:ext cx="18288000" cy="1697181"/>
            <a:chOff x="0" y="0"/>
            <a:chExt cx="4816593" cy="446994"/>
          </a:xfrm>
        </p:grpSpPr>
        <p:sp>
          <p:nvSpPr>
            <p:cNvPr id="4" name="Freeform 4"/>
            <p:cNvSpPr/>
            <p:nvPr/>
          </p:nvSpPr>
          <p:spPr>
            <a:xfrm>
              <a:off x="0" y="0"/>
              <a:ext cx="4816592" cy="446994"/>
            </a:xfrm>
            <a:custGeom>
              <a:avLst/>
              <a:gdLst/>
              <a:ahLst/>
              <a:cxnLst/>
              <a:rect l="l" t="t" r="r" b="b"/>
              <a:pathLst>
                <a:path w="4816592" h="446994">
                  <a:moveTo>
                    <a:pt x="0" y="0"/>
                  </a:moveTo>
                  <a:lnTo>
                    <a:pt x="4816592" y="0"/>
                  </a:lnTo>
                  <a:lnTo>
                    <a:pt x="4816592" y="446994"/>
                  </a:lnTo>
                  <a:lnTo>
                    <a:pt x="0" y="446994"/>
                  </a:lnTo>
                  <a:close/>
                </a:path>
              </a:pathLst>
            </a:custGeom>
            <a:solidFill>
              <a:srgbClr val="FFFFFF"/>
            </a:solidFill>
          </p:spPr>
        </p:sp>
        <p:sp>
          <p:nvSpPr>
            <p:cNvPr id="5" name="TextBox 5"/>
            <p:cNvSpPr txBox="1"/>
            <p:nvPr/>
          </p:nvSpPr>
          <p:spPr>
            <a:xfrm>
              <a:off x="0" y="-38100"/>
              <a:ext cx="4816593" cy="485094"/>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6662574" y="122606"/>
            <a:ext cx="3497653" cy="1540119"/>
          </a:xfrm>
          <a:custGeom>
            <a:avLst/>
            <a:gdLst/>
            <a:ahLst/>
            <a:cxnLst/>
            <a:rect l="l" t="t" r="r" b="b"/>
            <a:pathLst>
              <a:path w="3497653" h="1540119">
                <a:moveTo>
                  <a:pt x="0" y="0"/>
                </a:moveTo>
                <a:lnTo>
                  <a:pt x="3497653" y="0"/>
                </a:lnTo>
                <a:lnTo>
                  <a:pt x="3497653" y="1540119"/>
                </a:lnTo>
                <a:lnTo>
                  <a:pt x="0" y="1540119"/>
                </a:lnTo>
                <a:lnTo>
                  <a:pt x="0" y="0"/>
                </a:lnTo>
                <a:close/>
              </a:path>
            </a:pathLst>
          </a:custGeom>
          <a:blipFill>
            <a:blip r:embed="rId2"/>
            <a:stretch>
              <a:fillRect l="-26230" t="-89762" r="-26367" b="-156792"/>
            </a:stretch>
          </a:blipFill>
        </p:spPr>
      </p:sp>
      <p:grpSp>
        <p:nvGrpSpPr>
          <p:cNvPr id="7" name="Group 7"/>
          <p:cNvGrpSpPr/>
          <p:nvPr/>
        </p:nvGrpSpPr>
        <p:grpSpPr>
          <a:xfrm>
            <a:off x="10969852" y="588904"/>
            <a:ext cx="5022437" cy="749179"/>
            <a:chOff x="0" y="0"/>
            <a:chExt cx="6696583" cy="998906"/>
          </a:xfrm>
        </p:grpSpPr>
        <p:sp>
          <p:nvSpPr>
            <p:cNvPr id="8" name="Freeform 8" descr="A red blue and white logo  Description automatically generated"/>
            <p:cNvSpPr/>
            <p:nvPr/>
          </p:nvSpPr>
          <p:spPr>
            <a:xfrm>
              <a:off x="0" y="0"/>
              <a:ext cx="6696583" cy="998855"/>
            </a:xfrm>
            <a:custGeom>
              <a:avLst/>
              <a:gdLst/>
              <a:ahLst/>
              <a:cxnLst/>
              <a:rect l="l" t="t" r="r" b="b"/>
              <a:pathLst>
                <a:path w="6696583" h="998855">
                  <a:moveTo>
                    <a:pt x="0" y="0"/>
                  </a:moveTo>
                  <a:lnTo>
                    <a:pt x="6696583" y="0"/>
                  </a:lnTo>
                  <a:lnTo>
                    <a:pt x="6696583" y="998855"/>
                  </a:lnTo>
                  <a:lnTo>
                    <a:pt x="0" y="998855"/>
                  </a:lnTo>
                  <a:lnTo>
                    <a:pt x="0" y="0"/>
                  </a:lnTo>
                  <a:close/>
                </a:path>
              </a:pathLst>
            </a:custGeom>
            <a:blipFill>
              <a:blip r:embed="rId3"/>
              <a:stretch>
                <a:fillRect b="-5"/>
              </a:stretch>
            </a:blipFill>
          </p:spPr>
        </p:sp>
      </p:grpSp>
      <p:sp>
        <p:nvSpPr>
          <p:cNvPr id="9" name="Freeform 9"/>
          <p:cNvSpPr/>
          <p:nvPr/>
        </p:nvSpPr>
        <p:spPr>
          <a:xfrm>
            <a:off x="3163313" y="523697"/>
            <a:ext cx="2690517" cy="879592"/>
          </a:xfrm>
          <a:custGeom>
            <a:avLst/>
            <a:gdLst/>
            <a:ahLst/>
            <a:cxnLst/>
            <a:rect l="l" t="t" r="r" b="b"/>
            <a:pathLst>
              <a:path w="2690517" h="879592">
                <a:moveTo>
                  <a:pt x="0" y="0"/>
                </a:moveTo>
                <a:lnTo>
                  <a:pt x="2690518" y="0"/>
                </a:lnTo>
                <a:lnTo>
                  <a:pt x="2690518" y="879593"/>
                </a:lnTo>
                <a:lnTo>
                  <a:pt x="0" y="87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6"/>
            <a:stretch>
              <a:fillRect/>
            </a:stretch>
          </a:blipFill>
        </p:spPr>
      </p:sp>
      <p:sp>
        <p:nvSpPr>
          <p:cNvPr id="11" name="TextBox 11"/>
          <p:cNvSpPr txBox="1"/>
          <p:nvPr/>
        </p:nvSpPr>
        <p:spPr>
          <a:xfrm>
            <a:off x="4585802" y="1974068"/>
            <a:ext cx="9116397" cy="819150"/>
          </a:xfrm>
          <a:prstGeom prst="rect">
            <a:avLst/>
          </a:prstGeom>
        </p:spPr>
        <p:txBody>
          <a:bodyPr lIns="0" tIns="0" rIns="0" bIns="0" rtlCol="0" anchor="t">
            <a:spAutoFit/>
          </a:bodyPr>
          <a:lstStyle/>
          <a:p>
            <a:pPr algn="ctr">
              <a:lnSpc>
                <a:spcPts val="6480"/>
              </a:lnSpc>
            </a:pPr>
            <a:r>
              <a:rPr lang="en-US" sz="5400" u="sng">
                <a:solidFill>
                  <a:srgbClr val="4472C4"/>
                </a:solidFill>
                <a:latin typeface="Montserrat"/>
                <a:ea typeface="Montserrat"/>
                <a:cs typeface="Montserrat"/>
                <a:sym typeface="Montserrat"/>
              </a:rPr>
              <a:t>BUSINESS MODEL</a:t>
            </a:r>
          </a:p>
        </p:txBody>
      </p:sp>
      <p:sp>
        <p:nvSpPr>
          <p:cNvPr id="12" name="Freeform 12"/>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2F4"/>
        </a:solidFill>
        <a:effectLst/>
      </p:bgPr>
    </p:bg>
    <p:spTree>
      <p:nvGrpSpPr>
        <p:cNvPr id="1" name=""/>
        <p:cNvGrpSpPr/>
        <p:nvPr/>
      </p:nvGrpSpPr>
      <p:grpSpPr>
        <a:xfrm>
          <a:off x="0" y="0"/>
          <a:ext cx="0" cy="0"/>
          <a:chOff x="0" y="0"/>
          <a:chExt cx="0" cy="0"/>
        </a:xfrm>
      </p:grpSpPr>
      <p:sp>
        <p:nvSpPr>
          <p:cNvPr id="2" name="TextBox 2"/>
          <p:cNvSpPr txBox="1"/>
          <p:nvPr/>
        </p:nvSpPr>
        <p:spPr>
          <a:xfrm>
            <a:off x="1028700" y="3144765"/>
            <a:ext cx="15928134" cy="3200400"/>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Details/Links of References and Research work</a:t>
            </a:r>
          </a:p>
          <a:p>
            <a:pPr marL="647700" lvl="1" indent="-323850" algn="l">
              <a:lnSpc>
                <a:spcPts val="3600"/>
              </a:lnSpc>
              <a:buFont typeface="Arial"/>
              <a:buChar char="•"/>
            </a:pPr>
            <a:r>
              <a:rPr lang="en-US" sz="3000" b="1">
                <a:solidFill>
                  <a:srgbClr val="000000"/>
                </a:solidFill>
                <a:latin typeface="Montserrat Bold"/>
                <a:ea typeface="Montserrat Bold"/>
                <a:cs typeface="Montserrat Bold"/>
                <a:sym typeface="Montserrat Bold"/>
              </a:rPr>
              <a:t>Mandatory Submission: Add a link of one page summary of your idea (in .PDF format). The link must be accessible by all, and in view only form. (store the pdf file in Google Drive and share the link with the view permission as “Anyone with the link can view.”</a:t>
            </a:r>
          </a:p>
          <a:p>
            <a:pPr marL="647700" lvl="1" indent="-323850" algn="l">
              <a:lnSpc>
                <a:spcPts val="3600"/>
              </a:lnSpc>
              <a:buFont typeface="Arial"/>
              <a:buChar char="•"/>
            </a:pPr>
            <a:r>
              <a:rPr lang="en-US" sz="3000">
                <a:solidFill>
                  <a:srgbClr val="000000"/>
                </a:solidFill>
                <a:latin typeface="Montserrat"/>
                <a:ea typeface="Montserrat"/>
                <a:cs typeface="Montserrat"/>
                <a:sym typeface="Montserrat"/>
              </a:rPr>
              <a:t>Once the link is submitted, it cannot be modified or resumbitted. </a:t>
            </a:r>
          </a:p>
          <a:p>
            <a:pPr algn="l">
              <a:lnSpc>
                <a:spcPts val="3600"/>
              </a:lnSpc>
            </a:pPr>
            <a:endParaRPr lang="en-US" sz="3000">
              <a:solidFill>
                <a:srgbClr val="000000"/>
              </a:solidFill>
              <a:latin typeface="Montserrat"/>
              <a:ea typeface="Montserrat"/>
              <a:cs typeface="Montserrat"/>
              <a:sym typeface="Montserrat"/>
            </a:endParaRPr>
          </a:p>
        </p:txBody>
      </p:sp>
      <p:grpSp>
        <p:nvGrpSpPr>
          <p:cNvPr id="3" name="Group 3"/>
          <p:cNvGrpSpPr/>
          <p:nvPr/>
        </p:nvGrpSpPr>
        <p:grpSpPr>
          <a:xfrm>
            <a:off x="0" y="0"/>
            <a:ext cx="18288000" cy="1697181"/>
            <a:chOff x="0" y="0"/>
            <a:chExt cx="4816593" cy="446994"/>
          </a:xfrm>
        </p:grpSpPr>
        <p:sp>
          <p:nvSpPr>
            <p:cNvPr id="4" name="Freeform 4"/>
            <p:cNvSpPr/>
            <p:nvPr/>
          </p:nvSpPr>
          <p:spPr>
            <a:xfrm>
              <a:off x="0" y="0"/>
              <a:ext cx="4816592" cy="446994"/>
            </a:xfrm>
            <a:custGeom>
              <a:avLst/>
              <a:gdLst/>
              <a:ahLst/>
              <a:cxnLst/>
              <a:rect l="l" t="t" r="r" b="b"/>
              <a:pathLst>
                <a:path w="4816592" h="446994">
                  <a:moveTo>
                    <a:pt x="0" y="0"/>
                  </a:moveTo>
                  <a:lnTo>
                    <a:pt x="4816592" y="0"/>
                  </a:lnTo>
                  <a:lnTo>
                    <a:pt x="4816592" y="446994"/>
                  </a:lnTo>
                  <a:lnTo>
                    <a:pt x="0" y="446994"/>
                  </a:lnTo>
                  <a:close/>
                </a:path>
              </a:pathLst>
            </a:custGeom>
            <a:solidFill>
              <a:srgbClr val="FFFFFF"/>
            </a:solidFill>
          </p:spPr>
        </p:sp>
        <p:sp>
          <p:nvSpPr>
            <p:cNvPr id="5" name="TextBox 5"/>
            <p:cNvSpPr txBox="1"/>
            <p:nvPr/>
          </p:nvSpPr>
          <p:spPr>
            <a:xfrm>
              <a:off x="0" y="-38100"/>
              <a:ext cx="4816593" cy="485094"/>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6662574" y="122606"/>
            <a:ext cx="3497653" cy="1540119"/>
          </a:xfrm>
          <a:custGeom>
            <a:avLst/>
            <a:gdLst/>
            <a:ahLst/>
            <a:cxnLst/>
            <a:rect l="l" t="t" r="r" b="b"/>
            <a:pathLst>
              <a:path w="3497653" h="1540119">
                <a:moveTo>
                  <a:pt x="0" y="0"/>
                </a:moveTo>
                <a:lnTo>
                  <a:pt x="3497653" y="0"/>
                </a:lnTo>
                <a:lnTo>
                  <a:pt x="3497653" y="1540119"/>
                </a:lnTo>
                <a:lnTo>
                  <a:pt x="0" y="1540119"/>
                </a:lnTo>
                <a:lnTo>
                  <a:pt x="0" y="0"/>
                </a:lnTo>
                <a:close/>
              </a:path>
            </a:pathLst>
          </a:custGeom>
          <a:blipFill>
            <a:blip r:embed="rId2"/>
            <a:stretch>
              <a:fillRect l="-26230" t="-89762" r="-26367" b="-156792"/>
            </a:stretch>
          </a:blipFill>
        </p:spPr>
      </p:sp>
      <p:grpSp>
        <p:nvGrpSpPr>
          <p:cNvPr id="7" name="Group 7"/>
          <p:cNvGrpSpPr/>
          <p:nvPr/>
        </p:nvGrpSpPr>
        <p:grpSpPr>
          <a:xfrm>
            <a:off x="10969852" y="588904"/>
            <a:ext cx="5022437" cy="749179"/>
            <a:chOff x="0" y="0"/>
            <a:chExt cx="6696583" cy="998906"/>
          </a:xfrm>
        </p:grpSpPr>
        <p:sp>
          <p:nvSpPr>
            <p:cNvPr id="8" name="Freeform 8" descr="A red blue and white logo  Description automatically generated"/>
            <p:cNvSpPr/>
            <p:nvPr/>
          </p:nvSpPr>
          <p:spPr>
            <a:xfrm>
              <a:off x="0" y="0"/>
              <a:ext cx="6696583" cy="998855"/>
            </a:xfrm>
            <a:custGeom>
              <a:avLst/>
              <a:gdLst/>
              <a:ahLst/>
              <a:cxnLst/>
              <a:rect l="l" t="t" r="r" b="b"/>
              <a:pathLst>
                <a:path w="6696583" h="998855">
                  <a:moveTo>
                    <a:pt x="0" y="0"/>
                  </a:moveTo>
                  <a:lnTo>
                    <a:pt x="6696583" y="0"/>
                  </a:lnTo>
                  <a:lnTo>
                    <a:pt x="6696583" y="998855"/>
                  </a:lnTo>
                  <a:lnTo>
                    <a:pt x="0" y="998855"/>
                  </a:lnTo>
                  <a:lnTo>
                    <a:pt x="0" y="0"/>
                  </a:lnTo>
                  <a:close/>
                </a:path>
              </a:pathLst>
            </a:custGeom>
            <a:blipFill>
              <a:blip r:embed="rId3"/>
              <a:stretch>
                <a:fillRect b="-5"/>
              </a:stretch>
            </a:blipFill>
          </p:spPr>
        </p:sp>
      </p:grpSp>
      <p:sp>
        <p:nvSpPr>
          <p:cNvPr id="9" name="Freeform 9"/>
          <p:cNvSpPr/>
          <p:nvPr/>
        </p:nvSpPr>
        <p:spPr>
          <a:xfrm>
            <a:off x="3163313" y="523697"/>
            <a:ext cx="2690517" cy="879592"/>
          </a:xfrm>
          <a:custGeom>
            <a:avLst/>
            <a:gdLst/>
            <a:ahLst/>
            <a:cxnLst/>
            <a:rect l="l" t="t" r="r" b="b"/>
            <a:pathLst>
              <a:path w="2690517" h="879592">
                <a:moveTo>
                  <a:pt x="0" y="0"/>
                </a:moveTo>
                <a:lnTo>
                  <a:pt x="2690518" y="0"/>
                </a:lnTo>
                <a:lnTo>
                  <a:pt x="2690518" y="879593"/>
                </a:lnTo>
                <a:lnTo>
                  <a:pt x="0" y="87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401479" y="281194"/>
            <a:ext cx="2445886" cy="1222943"/>
          </a:xfrm>
          <a:custGeom>
            <a:avLst/>
            <a:gdLst/>
            <a:ahLst/>
            <a:cxnLst/>
            <a:rect l="l" t="t" r="r" b="b"/>
            <a:pathLst>
              <a:path w="2445886" h="1222943">
                <a:moveTo>
                  <a:pt x="0" y="0"/>
                </a:moveTo>
                <a:lnTo>
                  <a:pt x="2445886" y="0"/>
                </a:lnTo>
                <a:lnTo>
                  <a:pt x="2445886" y="1222943"/>
                </a:lnTo>
                <a:lnTo>
                  <a:pt x="0" y="1222943"/>
                </a:lnTo>
                <a:lnTo>
                  <a:pt x="0" y="0"/>
                </a:lnTo>
                <a:close/>
              </a:path>
            </a:pathLst>
          </a:custGeom>
          <a:blipFill>
            <a:blip r:embed="rId6"/>
            <a:stretch>
              <a:fillRect/>
            </a:stretch>
          </a:blipFill>
        </p:spPr>
      </p:sp>
      <p:sp>
        <p:nvSpPr>
          <p:cNvPr id="11" name="TextBox 11"/>
          <p:cNvSpPr txBox="1"/>
          <p:nvPr/>
        </p:nvSpPr>
        <p:spPr>
          <a:xfrm>
            <a:off x="3932385" y="1974068"/>
            <a:ext cx="10423229" cy="819150"/>
          </a:xfrm>
          <a:prstGeom prst="rect">
            <a:avLst/>
          </a:prstGeom>
        </p:spPr>
        <p:txBody>
          <a:bodyPr lIns="0" tIns="0" rIns="0" bIns="0" rtlCol="0" anchor="t">
            <a:spAutoFit/>
          </a:bodyPr>
          <a:lstStyle/>
          <a:p>
            <a:pPr algn="ctr">
              <a:lnSpc>
                <a:spcPts val="6480"/>
              </a:lnSpc>
            </a:pPr>
            <a:r>
              <a:rPr lang="en-US" sz="5400" u="sng">
                <a:solidFill>
                  <a:srgbClr val="4472C4"/>
                </a:solidFill>
                <a:latin typeface="Montserrat"/>
                <a:ea typeface="Montserrat"/>
                <a:cs typeface="Montserrat"/>
                <a:sym typeface="Montserrat"/>
              </a:rPr>
              <a:t>RESEARCH &amp; REFERENCES</a:t>
            </a:r>
          </a:p>
        </p:txBody>
      </p:sp>
      <p:sp>
        <p:nvSpPr>
          <p:cNvPr id="12" name="Freeform 12"/>
          <p:cNvSpPr/>
          <p:nvPr/>
        </p:nvSpPr>
        <p:spPr>
          <a:xfrm>
            <a:off x="16739206" y="471221"/>
            <a:ext cx="1040189" cy="1032916"/>
          </a:xfrm>
          <a:custGeom>
            <a:avLst/>
            <a:gdLst/>
            <a:ahLst/>
            <a:cxnLst/>
            <a:rect l="l" t="t" r="r" b="b"/>
            <a:pathLst>
              <a:path w="1040189" h="1032916">
                <a:moveTo>
                  <a:pt x="0" y="0"/>
                </a:moveTo>
                <a:lnTo>
                  <a:pt x="1040188" y="0"/>
                </a:lnTo>
                <a:lnTo>
                  <a:pt x="1040188" y="1032916"/>
                </a:lnTo>
                <a:lnTo>
                  <a:pt x="0" y="1032916"/>
                </a:lnTo>
                <a:lnTo>
                  <a:pt x="0" y="0"/>
                </a:lnTo>
                <a:close/>
              </a:path>
            </a:pathLst>
          </a:custGeom>
          <a:blipFill>
            <a:blip r:embed="rId7"/>
            <a:stretch>
              <a:fillRect l="-13633" t="-14434" r="-13983" b="-14081"/>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533</Words>
  <Application>Microsoft Office PowerPoint</Application>
  <PresentationFormat>Custom</PresentationFormat>
  <Paragraphs>63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Montserrat</vt:lpstr>
      <vt:lpstr>League Spartan</vt:lpstr>
      <vt:lpstr>TT Interphases Mono</vt:lpstr>
      <vt:lpstr>Montserrat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IDEA TITLE</dc:title>
  <dc:creator>Aditya Thakare</dc:creator>
  <cp:lastModifiedBy>Aditya Thakare</cp:lastModifiedBy>
  <cp:revision>3</cp:revision>
  <dcterms:created xsi:type="dcterms:W3CDTF">2006-08-16T00:00:00Z</dcterms:created>
  <dcterms:modified xsi:type="dcterms:W3CDTF">2026-03-20T09:25:42Z</dcterms:modified>
  <dc:identifier>DAHCOoBRAO4</dc:identifier>
</cp:coreProperties>
</file>